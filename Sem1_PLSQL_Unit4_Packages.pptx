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a PL/SQL Package?
A package is a container that groups related database variables, cursors, types, and subprograms. It has a two-part design: the Specification and the Body.
The Package Specification acts like a Java Interface or C++ header. It defines the public API. The Package Body implements that API. Because they are compiled separately, you can modify code inside the body without invalidating other database procedures that call the package specification. This is critical for maintaining large enterprise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Definer vs. Invoker Rights
Security is paramount in database programming. Oracle uses the AUTHID clause to determine privileges during package execution:
1. Definer Rights (AUTHID DEFINER): The default. The package runs using the permissions of its owner. This enables secure data encapsulation. Users can write to table data via procedures without having direct privileges on the tables.
2. Invoker Rights (AUTHID CURRENT_USER): The package runs with the permissions of the user calling it. References to table names resolve dynamically to the caller's schema, making it ideal for shared database utility libraries.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Package Management
Oracle maintains objects and source code inside the catalog views. The USER_OBJECTS view shows whether packages are VALID or INVALID.
When a package specification is modified, Oracle marks dependent objects as invalid. It uses two validation methods: Timestamp validation (re-compiles all dependencies on time changes, which can trigger large rebuild cascades) and Signature validation (only re-compiles if parameter signatures, types, or return arguments are altered). Signature validation is typically preferred in production environments to minimize rebuild outages.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Applications
PL/SQL packages organize code, manage state across user sessions, cache constants, and hide implementation details. They are a core architectural component of enterprise Oracle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IV: Packages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PL/SQL Packages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PL/SQL Package?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PL/SQL Package </a:t>
            </a:r>
            <a:pPr indent="0" marL="0">
              <a:buNone/>
            </a:pPr>
            <a:r>
              <a:rPr lang="en-US" sz="1400" dirty="0">
                <a:solidFill>
                  <a:srgbClr val="000000"/>
                </a:solidFill>
                <a:latin typeface="Arial" pitchFamily="34" charset="0"/>
                <a:ea typeface="Arial" pitchFamily="34" charset="-122"/>
                <a:cs typeface="Arial" pitchFamily="34" charset="-120"/>
              </a:rPr>
              <a:t>is a schema object that groups logically related PL/SQL types, variables, constants, subprograms, and cursors. It consists of two distinct components compiled separately.</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Two-Part Architecture</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1. Package Specification (Spec):</a:t>
            </a:r>
            <a:pPr indent="0" marL="0">
              <a:buNone/>
            </a:pPr>
            <a:r>
              <a:rPr lang="en-US" sz="1300" dirty="0">
                <a:solidFill>
                  <a:srgbClr val="000000"/>
                </a:solidFill>
                <a:latin typeface="Arial" pitchFamily="34" charset="0"/>
                <a:ea typeface="Arial" pitchFamily="34" charset="-122"/>
                <a:cs typeface="Arial" pitchFamily="34" charset="-120"/>
              </a:rPr>
              <a:t> The public interface / header. Declares public variables, cursors, types, and subprogram signatures. Visible to other database programs.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2. Package Body:</a:t>
            </a:r>
            <a:pPr indent="0" marL="0">
              <a:buNone/>
            </a:pPr>
            <a:r>
              <a:rPr lang="en-US" sz="1300" dirty="0">
                <a:solidFill>
                  <a:srgbClr val="000000"/>
                </a:solidFill>
                <a:latin typeface="Arial" pitchFamily="34" charset="0"/>
                <a:ea typeface="Arial" pitchFamily="34" charset="-122"/>
                <a:cs typeface="Arial" pitchFamily="34" charset="-120"/>
              </a:rPr>
              <a:t> The private implementation. Contains the code for subprograms declared in the specification, as well as private variables, types, and helper methods. Hidden from outer scope.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Separate Compilation:</a:t>
            </a:r>
            <a:pPr indent="0" marL="0">
              <a:buNone/>
            </a:pPr>
            <a:r>
              <a:rPr lang="en-US" sz="1300" dirty="0">
                <a:solidFill>
                  <a:srgbClr val="000000"/>
                </a:solidFill>
                <a:latin typeface="Arial" pitchFamily="34" charset="0"/>
                <a:ea typeface="Arial" pitchFamily="34" charset="-122"/>
                <a:cs typeface="Arial" pitchFamily="34" charset="-120"/>
              </a:rPr>
              <a:t> You can change and re-compile the body without compiling the specification, preventing invalidation of dependent objects.</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Core Benefits of Packages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Modular Development:</a:t>
            </a:r>
            <a:pPr indent="0" marL="0">
              <a:buNone/>
            </a:pPr>
            <a:r>
              <a:rPr lang="en-US" sz="1300" dirty="0">
                <a:solidFill>
                  <a:srgbClr val="000000"/>
                </a:solidFill>
                <a:latin typeface="Arial" pitchFamily="34" charset="0"/>
                <a:ea typeface="Arial" pitchFamily="34" charset="-122"/>
                <a:cs typeface="Arial" pitchFamily="34" charset="-120"/>
              </a:rPr>
              <a:t> Groups related business features into clean libraries (e.g., HR_PKG, FINANCE_PKG).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Encapsulation (Information Hiding):</a:t>
            </a:r>
            <a:pPr indent="0" marL="0">
              <a:buNone/>
            </a:pPr>
            <a:r>
              <a:rPr lang="en-US" sz="1300" dirty="0">
                <a:solidFill>
                  <a:srgbClr val="000000"/>
                </a:solidFill>
                <a:latin typeface="Arial" pitchFamily="34" charset="0"/>
                <a:ea typeface="Arial" pitchFamily="34" charset="-122"/>
                <a:cs typeface="Arial" pitchFamily="34" charset="-120"/>
              </a:rPr>
              <a:t> Keeps helper functions and variables private inside the body, protecting the API implementation.</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Session Persistent State:</a:t>
            </a:r>
            <a:pPr indent="0" marL="0">
              <a:buNone/>
            </a:pPr>
            <a:r>
              <a:rPr lang="en-US" sz="1300" dirty="0">
                <a:solidFill>
                  <a:srgbClr val="000000"/>
                </a:solidFill>
                <a:latin typeface="Arial" pitchFamily="34" charset="0"/>
                <a:ea typeface="Arial" pitchFamily="34" charset="-122"/>
                <a:cs typeface="Arial" pitchFamily="34" charset="-120"/>
              </a:rPr>
              <a:t> Package variables persist for the duration of a user's database session, acting as in-memory global state.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High Performance:</a:t>
            </a:r>
            <a:pPr indent="0" marL="0">
              <a:buNone/>
            </a:pPr>
            <a:r>
              <a:rPr lang="en-US" sz="1300" dirty="0">
                <a:solidFill>
                  <a:srgbClr val="000000"/>
                </a:solidFill>
                <a:latin typeface="Arial" pitchFamily="34" charset="0"/>
                <a:ea typeface="Arial" pitchFamily="34" charset="-122"/>
                <a:cs typeface="Arial" pitchFamily="34" charset="-120"/>
              </a:rPr>
              <a:t> The entire package is loaded into memory on the first call, reducing database page reads for subsequent subprogram runs.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Definer Rights vs. Invoker Rights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Packages run under different security context privileges, controlled by AUTHID:</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Definer Rights (AUTHID DEFINER)</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Default Privilege Behavior:</a:t>
            </a:r>
            <a:pPr indent="0" marL="0">
              <a:buNone/>
            </a:pPr>
            <a:r>
              <a:rPr lang="en-US" sz="1300" dirty="0">
                <a:solidFill>
                  <a:srgbClr val="000000"/>
                </a:solidFill>
                <a:latin typeface="Arial" pitchFamily="34" charset="0"/>
                <a:ea typeface="Arial" pitchFamily="34" charset="-122"/>
                <a:cs typeface="Arial" pitchFamily="34" charset="-120"/>
              </a:rPr>
              <a:t> Run with the schema privileges of the user who CREATED (defined) the package.</a:t>
            </a:r>
            <a:endParaRPr lang="en-US" sz="1300" dirty="0"/>
          </a:p>
          <a:p>
            <a:pPr indent="0" marL="0">
              <a:buNone/>
            </a:pPr>
            <a:r>
              <a:rPr lang="en-US" sz="1300" b="1" dirty="0">
                <a:solidFill>
                  <a:srgbClr val="009900"/>
                </a:solidFill>
                <a:latin typeface="Arial" pitchFamily="34" charset="0"/>
                <a:ea typeface="Arial" pitchFamily="34" charset="-122"/>
                <a:cs typeface="Arial" pitchFamily="34" charset="-120"/>
              </a:rPr>
              <a:t>• Security Encapsulation:</a:t>
            </a:r>
            <a:pPr indent="0" marL="0">
              <a:buNone/>
            </a:pPr>
            <a:r>
              <a:rPr lang="en-US" sz="1300" dirty="0">
                <a:solidFill>
                  <a:srgbClr val="000000"/>
                </a:solidFill>
                <a:latin typeface="Arial" pitchFamily="34" charset="0"/>
                <a:ea typeface="Arial" pitchFamily="34" charset="-122"/>
                <a:cs typeface="Arial" pitchFamily="34" charset="-120"/>
              </a:rPr>
              <a:t> Allows a user to perform modifications on tables they cannot access directly, by calling a procedure owned by a privileged creator.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Name Resolution:</a:t>
            </a:r>
            <a:pPr indent="0" marL="0">
              <a:buNone/>
            </a:pPr>
            <a:r>
              <a:rPr lang="en-US" sz="1300" dirty="0">
                <a:solidFill>
                  <a:srgbClr val="000000"/>
                </a:solidFill>
                <a:latin typeface="Arial" pitchFamily="34" charset="0"/>
                <a:ea typeface="Arial" pitchFamily="34" charset="-122"/>
                <a:cs typeface="Arial" pitchFamily="34" charset="-120"/>
              </a:rPr>
              <a:t> Unqualified table names resolve to the definer's schema.</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Execution context:</a:t>
            </a:r>
            <a:pPr indent="0" marL="0">
              <a:buNone/>
            </a:pPr>
            <a:r>
              <a:rPr lang="en-US" sz="1300" dirty="0">
                <a:solidFill>
                  <a:srgbClr val="000000"/>
                </a:solidFill>
                <a:latin typeface="Arial" pitchFamily="34" charset="0"/>
                <a:ea typeface="Arial" pitchFamily="34" charset="-122"/>
                <a:cs typeface="Arial" pitchFamily="34" charset="-120"/>
              </a:rPr>
              <a:t> Ideal for secure, transactional routines where table data modifications are highly regulated.</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Invoker Rights (AUTHID CURRENT_USER)</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Dynamic Privileges:</a:t>
            </a:r>
            <a:pPr indent="0" marL="0">
              <a:buNone/>
            </a:pPr>
            <a:r>
              <a:rPr lang="en-US" sz="1300" dirty="0">
                <a:solidFill>
                  <a:srgbClr val="000000"/>
                </a:solidFill>
                <a:latin typeface="Arial" pitchFamily="34" charset="0"/>
                <a:ea typeface="Arial" pitchFamily="34" charset="-122"/>
                <a:cs typeface="Arial" pitchFamily="34" charset="-120"/>
              </a:rPr>
              <a:t> Run with the schema privileges of the user currently executing (invoking) the package.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Name Resolution:</a:t>
            </a:r>
            <a:pPr indent="0" marL="0">
              <a:buNone/>
            </a:pPr>
            <a:r>
              <a:rPr lang="en-US" sz="1300" dirty="0">
                <a:solidFill>
                  <a:srgbClr val="000000"/>
                </a:solidFill>
                <a:latin typeface="Arial" pitchFamily="34" charset="0"/>
                <a:ea typeface="Arial" pitchFamily="34" charset="-122"/>
                <a:cs typeface="Arial" pitchFamily="34" charset="-120"/>
              </a:rPr>
              <a:t> Unqualified table references resolve to the invoker's current schema. The same package query fetches different data depending on who runs it.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Code sharing:</a:t>
            </a:r>
            <a:pPr indent="0" marL="0">
              <a:buNone/>
            </a:pPr>
            <a:r>
              <a:rPr lang="en-US" sz="1300" dirty="0">
                <a:solidFill>
                  <a:srgbClr val="000000"/>
                </a:solidFill>
                <a:latin typeface="Arial" pitchFamily="34" charset="0"/>
                <a:ea typeface="Arial" pitchFamily="34" charset="-122"/>
                <a:cs typeface="Arial" pitchFamily="34" charset="-120"/>
              </a:rPr>
              <a:t> Ideal for utility packages (e.g. string formatting, mathematical tools) shared across multiple schemas.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Security constraint:</a:t>
            </a:r>
            <a:pPr indent="0" marL="0">
              <a:buNone/>
            </a:pPr>
            <a:r>
              <a:rPr lang="en-US" sz="1300" dirty="0">
                <a:solidFill>
                  <a:srgbClr val="000000"/>
                </a:solidFill>
                <a:latin typeface="Arial" pitchFamily="34" charset="0"/>
                <a:ea typeface="Arial" pitchFamily="34" charset="-122"/>
                <a:cs typeface="Arial" pitchFamily="34" charset="-120"/>
              </a:rPr>
              <a:t> Prevents users from escalating privileges using malicious package code.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Managing Packages: Invalidation &amp; Catalog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Oracle monitors package status, invalidation, and dependencies: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Database Catalog Queries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Finding Packages:</a:t>
            </a:r>
            <a:pPr indent="0" marL="0">
              <a:buNone/>
            </a:pPr>
            <a:r>
              <a:rPr lang="en-US" sz="1300" dirty="0">
                <a:solidFill>
                  <a:srgbClr val="000000"/>
                </a:solidFill>
                <a:latin typeface="Arial" pitchFamily="34" charset="0"/>
                <a:ea typeface="Arial" pitchFamily="34" charset="-122"/>
                <a:cs typeface="Arial" pitchFamily="34" charset="-120"/>
              </a:rPr>
              <a:t> Metadata is stored in catalog views like USER_OBJECTS and USER_SOURCE:</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SELECT object_name, status FROM user_objects WHERE object_type = 'PACKAGE';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Status Monitoring:</a:t>
            </a:r>
            <a:pPr indent="0" marL="0">
              <a:buNone/>
            </a:pPr>
            <a:r>
              <a:rPr lang="en-US" sz="1300" dirty="0">
                <a:solidFill>
                  <a:srgbClr val="000000"/>
                </a:solidFill>
                <a:latin typeface="Arial" pitchFamily="34" charset="0"/>
                <a:ea typeface="Arial" pitchFamily="34" charset="-122"/>
                <a:cs typeface="Arial" pitchFamily="34" charset="-120"/>
              </a:rPr>
              <a:t> Status can be 'VALID' or 'INVALID'. If a dependent table changes, the package becomes invalid and must be re-compiled.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Describing Packages:</a:t>
            </a:r>
            <a:pPr indent="0" marL="0">
              <a:buNone/>
            </a:pPr>
            <a:r>
              <a:rPr lang="en-US" sz="1300" dirty="0">
                <a:solidFill>
                  <a:srgbClr val="000000"/>
                </a:solidFill>
                <a:latin typeface="Arial" pitchFamily="34" charset="0"/>
                <a:ea typeface="Arial" pitchFamily="34" charset="-122"/>
                <a:cs typeface="Arial" pitchFamily="34" charset="-120"/>
              </a:rPr>
              <a:t> Use DESCRIBE command in SQL*Plus to check public signatures: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DESCRIBE hr_pkg;</a:t>
            </a:r>
            <a:endParaRPr lang="en-US" sz="130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Timestamp vs. Signature Validation</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When a package is modified, Oracle determines if dependent programs must be recompiled using two methods:</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1. Timestamp Method (Default):</a:t>
            </a:r>
            <a:pPr indent="0" marL="0">
              <a:buNone/>
            </a:pPr>
            <a:r>
              <a:rPr lang="en-US" sz="1250" dirty="0">
                <a:solidFill>
                  <a:srgbClr val="000000"/>
                </a:solidFill>
                <a:latin typeface="Arial" pitchFamily="34" charset="0"/>
                <a:ea typeface="Arial" pitchFamily="34" charset="-122"/>
                <a:cs typeface="Arial" pitchFamily="34" charset="-120"/>
              </a:rPr>
              <a:t> Compares compile timestamps. If the package spec changes, all calling programs are immediately marked invalid and must re-compile. Causes cascading invalidations.</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2. Signature Method:</a:t>
            </a:r>
            <a:pPr indent="0" marL="0">
              <a:buNone/>
            </a:pPr>
            <a:r>
              <a:rPr lang="en-US" sz="1250" dirty="0">
                <a:solidFill>
                  <a:srgbClr val="000000"/>
                </a:solidFill>
                <a:latin typeface="Arial" pitchFamily="34" charset="0"/>
                <a:ea typeface="Arial" pitchFamily="34" charset="-122"/>
                <a:cs typeface="Arial" pitchFamily="34" charset="-120"/>
              </a:rPr>
              <a:t> Compares subprogram parameters and data types (signatures). Calling programs remain valid as long as parameter signatures are unchanged, avoiding rebuild loops.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Packages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PL/SQL packages are utilized to build modular, secure database interfaces: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Enterprise business API libraries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Groups related workflows into single libraries (e.g. Ledger_Pkg, Inventory_Pkg). Standardizes how client software executes transactions, enforcing business rules.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Session Cache Managers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Package variables persist throughout a database connection. They are utilized to cache static data (e.g., system settings, user permissions) in memory, avoiding redundant table queries.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System Integration Modules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Encapsulates complex database integrations, such as calling external APIs, parsing XML/JSON, or managing TCP connections inside private package body routines.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Utility Toolkits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Groups helper subprograms for data mapping, error logging, and date arithmetic. Oracle built-in packages like DBMS_SQL and UT_FILE are classic examples.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2026-06-14T10:59:04Z</dcterms:created>
  <dcterms:modified xsi:type="dcterms:W3CDTF">2026-06-14T10:59:04Z</dcterms:modified>
</cp:coreProperties>
</file>