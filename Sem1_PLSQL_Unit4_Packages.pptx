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2"/>
    <p:sldId id="257" r:id="rId3"/>
    <p:sldId id="258" r:id="rId4"/>
    <p:sldId id="259" r:id="rId5"/>
    <p:sldId id="260" r:id="rId6"/>
    <p:sldId id="261" r:id="rId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2" d="100"/>
          <a:sy n="82" d="100"/>
        </p:scale>
        <p:origin x="444" y="9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846299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What is a PL/SQL Package?
A package is a container that groups related database variables, cursors, types, and subprograms. It has a two-part design: the Specification and the Body.
The Package Specification acts like a Java Interface or C++ header. It defines the public API. The Package Body implements that API. Because they are compiled separately, you can modify code inside the body without invalidating other database procedures that call the package specification. This is critical for maintaining large enterprise databases.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Definer vs. Invoker Rights
Security is paramount in database programming. Oracle uses the AUTHID clause to determine privileges during package execution:
1. Definer Rights (AUTHID DEFINER): The default. The package runs using the permissions of its owner. This enables secure data encapsulation. Users can write to table data via procedures without having direct privileges on the tables.
2. Invoker Rights (AUTHID CURRENT_USER): The package runs with the permissions of the user calling it. References to table names resolve dynamically to the caller's schema, making it ideal for shared database utility libraries.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Package Management
Oracle maintains objects and source code inside the catalog views. The USER_OBJECTS view shows whether packages are VALID or INVALID.
When a package specification is modified, Oracle marks dependent objects as invalid. It uses two validation methods: Timestamp validation (re-compiles all dependencies on time changes, which can trigger large rebuild cascades) and Signature validation (only re-compiles if parameter signatures, types, or return arguments are altered). Signature validation is typically preferred in production environments to minimize rebuild outages.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Applications
PL/SQL packages organize code, manage state across user sessions, cache constants, and hide implementation details. They are a core architectural component of enterprise Oracle applications.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Database Programming with PL/SQL</a:t>
            </a:r>
            <a:endParaRPr lang="en-US" sz="1500" dirty="0"/>
          </a:p>
        </p:txBody>
      </p:sp>
      <p:pic>
        <p:nvPicPr>
          <p:cNvPr id="12" name="Image 0" descr="preencoded.png"/>
          <p:cNvPicPr>
            <a:picLocks noChangeAspect="1"/>
          </p:cNvPicPr>
          <p:nvPr/>
        </p:nvPicPr>
        <p:blipFill>
          <a:blip r:embed="rId3"/>
          <a:stretch>
            <a:fillRect/>
          </a:stretch>
        </p:blipFill>
        <p:spPr>
          <a:xfrm>
            <a:off x="10561320" y="228600"/>
            <a:ext cx="941832" cy="941832"/>
          </a:xfrm>
          <a:prstGeom prst="rect">
            <a:avLst/>
          </a:prstGeom>
        </p:spPr>
      </p:pic>
      <p:sp>
        <p:nvSpPr>
          <p:cNvPr id="13" name="Text 10"/>
          <p:cNvSpPr/>
          <p:nvPr/>
        </p:nvSpPr>
        <p:spPr>
          <a:xfrm>
            <a:off x="457200" y="1078992"/>
            <a:ext cx="11292840" cy="384048"/>
          </a:xfrm>
          <a:prstGeom prst="rect">
            <a:avLst/>
          </a:prstGeom>
          <a:noFill/>
          <a:ln/>
        </p:spPr>
        <p:txBody>
          <a:bodyPr wrap="square" rtlCol="0" anchor="ctr"/>
          <a:lstStyle/>
          <a:p>
            <a:pPr marL="0" indent="0" algn="ctr">
              <a:buNone/>
            </a:pPr>
            <a:r>
              <a:rPr lang="en-US" sz="1400" i="1" dirty="0">
                <a:solidFill>
                  <a:srgbClr val="990033"/>
                </a:solidFill>
                <a:latin typeface="Arial" pitchFamily="34" charset="0"/>
                <a:ea typeface="Arial" pitchFamily="34" charset="-122"/>
                <a:cs typeface="Arial" pitchFamily="34" charset="-120"/>
              </a:rPr>
              <a:t>Unit IV: Packages</a:t>
            </a:r>
            <a:endParaRPr lang="en-US" sz="1400" dirty="0"/>
          </a:p>
        </p:txBody>
      </p:sp>
      <p:sp>
        <p:nvSpPr>
          <p:cNvPr id="14" name="Shape 11"/>
          <p:cNvSpPr/>
          <p:nvPr/>
        </p:nvSpPr>
        <p:spPr>
          <a:xfrm>
            <a:off x="1645920" y="1572768"/>
            <a:ext cx="8897112" cy="1280160"/>
          </a:xfrm>
          <a:prstGeom prst="rect">
            <a:avLst/>
          </a:prstGeom>
          <a:solidFill>
            <a:srgbClr val="990033"/>
          </a:solidFill>
          <a:ln w="12700">
            <a:solidFill>
              <a:srgbClr val="990033"/>
            </a:solidFill>
            <a:prstDash val="solid"/>
          </a:ln>
        </p:spPr>
      </p:sp>
      <p:sp>
        <p:nvSpPr>
          <p:cNvPr id="15" name="Text 12"/>
          <p:cNvSpPr/>
          <p:nvPr/>
        </p:nvSpPr>
        <p:spPr>
          <a:xfrm>
            <a:off x="1645920" y="1572768"/>
            <a:ext cx="8897112" cy="1280160"/>
          </a:xfrm>
          <a:prstGeom prst="rect">
            <a:avLst/>
          </a:prstGeom>
          <a:noFill/>
          <a:ln/>
        </p:spPr>
        <p:txBody>
          <a:bodyPr wrap="square" lIns="0" tIns="0" rIns="0" bIns="0" rtlCol="0" anchor="ctr"/>
          <a:lstStyle/>
          <a:p>
            <a:pPr marL="0" indent="0" algn="ctr">
              <a:buNone/>
            </a:pPr>
            <a:r>
              <a:rPr lang="en-US" sz="2800" b="1" dirty="0">
                <a:solidFill>
                  <a:srgbClr val="FFFFFF"/>
                </a:solidFill>
                <a:latin typeface="Arial" pitchFamily="34" charset="0"/>
                <a:ea typeface="Arial" pitchFamily="34" charset="-122"/>
                <a:cs typeface="Arial" pitchFamily="34" charset="-120"/>
              </a:rPr>
              <a:t>PL/SQL Packages</a:t>
            </a:r>
            <a:endParaRPr lang="en-US" sz="2800" dirty="0"/>
          </a:p>
        </p:txBody>
      </p:sp>
      <p:sp>
        <p:nvSpPr>
          <p:cNvPr id="16" name="Text 13"/>
          <p:cNvSpPr/>
          <p:nvPr/>
        </p:nvSpPr>
        <p:spPr>
          <a:xfrm>
            <a:off x="457200" y="2999232"/>
            <a:ext cx="11292840" cy="365760"/>
          </a:xfrm>
          <a:prstGeom prst="rect">
            <a:avLst/>
          </a:prstGeom>
          <a:noFill/>
          <a:ln/>
        </p:spPr>
        <p:txBody>
          <a:bodyPr wrap="square" rtlCol="0" anchor="ctr"/>
          <a:lstStyle/>
          <a:p>
            <a:pPr marL="0" indent="0" algn="ctr">
              <a:buNone/>
            </a:pPr>
            <a:r>
              <a:rPr lang="en-US" sz="1500" b="1" dirty="0">
                <a:solidFill>
                  <a:srgbClr val="990033"/>
                </a:solidFill>
                <a:latin typeface="Arial" pitchFamily="34" charset="0"/>
                <a:ea typeface="Arial" pitchFamily="34" charset="-122"/>
                <a:cs typeface="Arial" pitchFamily="34" charset="-120"/>
              </a:rPr>
              <a:t>PPT PRESENTED BY</a:t>
            </a:r>
            <a:endParaRPr lang="en-US" sz="1500" dirty="0"/>
          </a:p>
        </p:txBody>
      </p:sp>
      <p:sp>
        <p:nvSpPr>
          <p:cNvPr id="17" name="Text 14"/>
          <p:cNvSpPr/>
          <p:nvPr/>
        </p:nvSpPr>
        <p:spPr>
          <a:xfrm>
            <a:off x="2926080" y="3438144"/>
            <a:ext cx="6400800" cy="384048"/>
          </a:xfrm>
          <a:prstGeom prst="rect">
            <a:avLst/>
          </a:prstGeom>
          <a:noFill/>
          <a:ln/>
        </p:spPr>
        <p:txBody>
          <a:bodyPr wrap="square" rtlCol="0" anchor="ctr"/>
          <a:lstStyle/>
          <a:p>
            <a:pPr marL="0" indent="0">
              <a:buNone/>
            </a:pPr>
            <a:r>
              <a:rPr lang="en-US" sz="1300" dirty="0">
                <a:solidFill>
                  <a:srgbClr val="000000"/>
                </a:solidFill>
                <a:latin typeface="Arial" pitchFamily="34" charset="0"/>
                <a:ea typeface="Arial" pitchFamily="34" charset="-122"/>
                <a:cs typeface="Arial" pitchFamily="34" charset="-120"/>
              </a:rPr>
              <a:t>NAME </a:t>
            </a:r>
            <a:r>
              <a:rPr lang="en-US" sz="1300">
                <a:solidFill>
                  <a:srgbClr val="000000"/>
                </a:solidFill>
                <a:latin typeface="Arial" pitchFamily="34" charset="0"/>
                <a:ea typeface="Arial" pitchFamily="34" charset="-122"/>
                <a:cs typeface="Arial" pitchFamily="34" charset="-120"/>
              </a:rPr>
              <a:t>:   Srinivas </a:t>
            </a:r>
            <a:r>
              <a:rPr lang="en-US" sz="1300" dirty="0">
                <a:solidFill>
                  <a:srgbClr val="000000"/>
                </a:solidFill>
                <a:latin typeface="Arial" pitchFamily="34" charset="0"/>
                <a:ea typeface="Arial" pitchFamily="34" charset="-122"/>
                <a:cs typeface="Arial" pitchFamily="34" charset="-120"/>
              </a:rPr>
              <a:t>Rao Tammireddy</a:t>
            </a:r>
            <a:endParaRPr lang="en-US" sz="1300" dirty="0"/>
          </a:p>
        </p:txBody>
      </p:sp>
      <p:sp>
        <p:nvSpPr>
          <p:cNvPr id="18" name="Text 15"/>
          <p:cNvSpPr/>
          <p:nvPr/>
        </p:nvSpPr>
        <p:spPr>
          <a:xfrm>
            <a:off x="2926080" y="3840480"/>
            <a:ext cx="6400800" cy="384048"/>
          </a:xfrm>
          <a:prstGeom prst="rect">
            <a:avLst/>
          </a:prstGeom>
          <a:noFill/>
          <a:ln/>
        </p:spPr>
        <p:txBody>
          <a:bodyPr wrap="square" rtlCol="0" anchor="ctr"/>
          <a:lstStyle/>
          <a:p>
            <a:pPr marL="0" indent="0">
              <a:buNone/>
            </a:pPr>
            <a:r>
              <a:rPr lang="en-US" sz="1300" dirty="0">
                <a:solidFill>
                  <a:srgbClr val="000000"/>
                </a:solidFill>
                <a:latin typeface="Arial" pitchFamily="34" charset="0"/>
                <a:ea typeface="Arial" pitchFamily="34" charset="-122"/>
                <a:cs typeface="Arial" pitchFamily="34" charset="-120"/>
              </a:rPr>
              <a:t>ROLL NO :   257Y1D5805</a:t>
            </a:r>
            <a:endParaRPr lang="en-US" sz="1300" dirty="0"/>
          </a:p>
        </p:txBody>
      </p:sp>
      <p:sp>
        <p:nvSpPr>
          <p:cNvPr id="19" name="Text 16"/>
          <p:cNvSpPr/>
          <p:nvPr/>
        </p:nvSpPr>
        <p:spPr>
          <a:xfrm>
            <a:off x="2926080" y="4242816"/>
            <a:ext cx="6400800" cy="384048"/>
          </a:xfrm>
          <a:prstGeom prst="rect">
            <a:avLst/>
          </a:prstGeom>
          <a:noFill/>
          <a:ln/>
        </p:spPr>
        <p:txBody>
          <a:bodyPr wrap="square" rtlCol="0" anchor="ctr"/>
          <a:lstStyle/>
          <a:p>
            <a:pPr marL="0" indent="0">
              <a:buNone/>
            </a:pPr>
            <a:r>
              <a:rPr lang="en-US" sz="1300" dirty="0">
                <a:solidFill>
                  <a:srgbClr val="000000"/>
                </a:solidFill>
                <a:latin typeface="Arial" pitchFamily="34" charset="0"/>
                <a:ea typeface="Arial" pitchFamily="34" charset="-122"/>
                <a:cs typeface="Arial" pitchFamily="34" charset="-120"/>
              </a:rPr>
              <a:t>YEAR :   I Year  I Semester</a:t>
            </a:r>
            <a:endParaRPr lang="en-US" sz="1300" dirty="0"/>
          </a:p>
        </p:txBody>
      </p:sp>
      <p:sp>
        <p:nvSpPr>
          <p:cNvPr id="20" name="Text 17"/>
          <p:cNvSpPr/>
          <p:nvPr/>
        </p:nvSpPr>
        <p:spPr>
          <a:xfrm>
            <a:off x="2926080" y="4645152"/>
            <a:ext cx="6400800" cy="384048"/>
          </a:xfrm>
          <a:prstGeom prst="rect">
            <a:avLst/>
          </a:prstGeom>
          <a:noFill/>
          <a:ln/>
        </p:spPr>
        <p:txBody>
          <a:bodyPr wrap="square" rtlCol="0" anchor="ctr"/>
          <a:lstStyle/>
          <a:p>
            <a:pPr marL="0" indent="0">
              <a:buNone/>
            </a:pPr>
            <a:r>
              <a:rPr lang="en-US" sz="1300" dirty="0">
                <a:solidFill>
                  <a:srgbClr val="000000"/>
                </a:solidFill>
                <a:latin typeface="Arial" pitchFamily="34" charset="0"/>
                <a:ea typeface="Arial" pitchFamily="34" charset="-122"/>
                <a:cs typeface="Arial" pitchFamily="34" charset="-120"/>
              </a:rPr>
              <a:t>ACADEMIC YEAR :   2025 - 2026</a:t>
            </a:r>
            <a:endParaRPr lang="en-US" sz="1300" dirty="0"/>
          </a:p>
        </p:txBody>
      </p:sp>
      <p:sp>
        <p:nvSpPr>
          <p:cNvPr id="21" name="Text 18"/>
          <p:cNvSpPr/>
          <p:nvPr/>
        </p:nvSpPr>
        <p:spPr>
          <a:xfrm>
            <a:off x="457200" y="6080760"/>
            <a:ext cx="11292840" cy="411480"/>
          </a:xfrm>
          <a:prstGeom prst="rect">
            <a:avLst/>
          </a:prstGeom>
          <a:noFill/>
          <a:ln/>
        </p:spPr>
        <p:txBody>
          <a:bodyPr wrap="square" rtlCol="0" anchor="ctr"/>
          <a:lstStyle/>
          <a:p>
            <a:pPr marL="0" indent="0" algn="ctr">
              <a:buNone/>
            </a:pPr>
            <a:r>
              <a:rPr lang="en-US" sz="1400" b="1" dirty="0">
                <a:solidFill>
                  <a:srgbClr val="990033"/>
                </a:solidFill>
                <a:latin typeface="Arial" pitchFamily="34" charset="0"/>
                <a:ea typeface="Arial" pitchFamily="34" charset="-122"/>
                <a:cs typeface="Arial" pitchFamily="34" charset="-120"/>
              </a:rPr>
              <a:t>DEPARTMENT OF COMPUTER SCIENCE AND ENGINEERING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Database Programming with PL/SQL</a:t>
            </a:r>
            <a:endParaRPr lang="en-US" sz="1500" dirty="0"/>
          </a:p>
        </p:txBody>
      </p:sp>
      <p:pic>
        <p:nvPicPr>
          <p:cNvPr id="12" name="Image 0" descr="preencoded.png"/>
          <p:cNvPicPr>
            <a:picLocks noChangeAspect="1"/>
          </p:cNvPicPr>
          <p:nvPr/>
        </p:nvPicPr>
        <p:blipFill>
          <a:blip r:embed="rId3"/>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marL="0" indent="0">
              <a:buNone/>
            </a:pPr>
            <a:r>
              <a:rPr lang="en-US" sz="2200" b="1" dirty="0">
                <a:solidFill>
                  <a:srgbClr val="990033"/>
                </a:solidFill>
                <a:latin typeface="Arial" pitchFamily="34" charset="0"/>
                <a:ea typeface="Arial" pitchFamily="34" charset="-122"/>
                <a:cs typeface="Arial" pitchFamily="34" charset="-120"/>
              </a:rPr>
              <a:t>What is a PL/SQL Package?</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502920"/>
          </a:xfrm>
          <a:prstGeom prst="rect">
            <a:avLst/>
          </a:prstGeom>
          <a:noFill/>
          <a:ln/>
        </p:spPr>
        <p:txBody>
          <a:bodyPr wrap="square" rtlCol="0" anchor="ctr"/>
          <a:lstStyle/>
          <a:p>
            <a:pPr marL="0" indent="0">
              <a:buNone/>
            </a:pPr>
            <a:r>
              <a:rPr lang="en-US" sz="1400" b="1" dirty="0">
                <a:solidFill>
                  <a:srgbClr val="000000"/>
                </a:solidFill>
                <a:latin typeface="Arial" pitchFamily="34" charset="0"/>
                <a:ea typeface="Arial" pitchFamily="34" charset="-122"/>
                <a:cs typeface="Arial" pitchFamily="34" charset="-120"/>
              </a:rPr>
              <a:t>A PL/SQL Package </a:t>
            </a:r>
            <a:r>
              <a:rPr lang="en-US" sz="1400" dirty="0">
                <a:solidFill>
                  <a:srgbClr val="000000"/>
                </a:solidFill>
                <a:latin typeface="Arial" pitchFamily="34" charset="0"/>
                <a:ea typeface="Arial" pitchFamily="34" charset="-122"/>
                <a:cs typeface="Arial" pitchFamily="34" charset="-120"/>
              </a:rPr>
              <a:t>is a schema object that groups logically related PL/SQL types, variables, constants, subprograms, and cursors. It consists of two distinct components compiled separately.</a:t>
            </a:r>
            <a:endParaRPr lang="en-US" sz="1400" dirty="0"/>
          </a:p>
        </p:txBody>
      </p:sp>
      <p:sp>
        <p:nvSpPr>
          <p:cNvPr id="16" name="Shape 13"/>
          <p:cNvSpPr/>
          <p:nvPr/>
        </p:nvSpPr>
        <p:spPr>
          <a:xfrm>
            <a:off x="457200" y="2103120"/>
            <a:ext cx="5394960" cy="3895344"/>
          </a:xfrm>
          <a:prstGeom prst="roundRect">
            <a:avLst>
              <a:gd name="adj" fmla="val 2347"/>
            </a:avLst>
          </a:prstGeom>
          <a:solidFill>
            <a:srgbClr val="E3F2FD"/>
          </a:solidFill>
          <a:ln w="19050">
            <a:solidFill>
              <a:srgbClr val="1565C0"/>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marL="0" indent="0">
              <a:buNone/>
            </a:pPr>
            <a:r>
              <a:rPr lang="en-US" sz="1500" b="1" dirty="0">
                <a:solidFill>
                  <a:srgbClr val="1565C0"/>
                </a:solidFill>
                <a:latin typeface="Arial" pitchFamily="34" charset="0"/>
                <a:ea typeface="Arial" pitchFamily="34" charset="-122"/>
                <a:cs typeface="Arial" pitchFamily="34" charset="-120"/>
              </a:rPr>
              <a:t>Two-Part Architecture</a:t>
            </a:r>
            <a:endParaRPr lang="en-US" sz="1500" dirty="0"/>
          </a:p>
        </p:txBody>
      </p:sp>
      <p:sp>
        <p:nvSpPr>
          <p:cNvPr id="18" name="Text 15"/>
          <p:cNvSpPr/>
          <p:nvPr/>
        </p:nvSpPr>
        <p:spPr>
          <a:xfrm>
            <a:off x="566928" y="2560320"/>
            <a:ext cx="5212080" cy="3364992"/>
          </a:xfrm>
          <a:prstGeom prst="rect">
            <a:avLst/>
          </a:prstGeom>
          <a:noFill/>
          <a:ln/>
        </p:spPr>
        <p:txBody>
          <a:bodyPr wrap="square" lIns="0" tIns="0" rIns="0" bIns="0" rtlCol="0" anchor="ctr"/>
          <a:lstStyle/>
          <a:p>
            <a:pPr marL="0" indent="0">
              <a:buNone/>
            </a:pPr>
            <a:r>
              <a:rPr lang="en-US" sz="1300" b="1" dirty="0">
                <a:solidFill>
                  <a:srgbClr val="1565C0"/>
                </a:solidFill>
                <a:latin typeface="Arial" pitchFamily="34" charset="0"/>
                <a:ea typeface="Arial" pitchFamily="34" charset="-122"/>
                <a:cs typeface="Arial" pitchFamily="34" charset="-120"/>
              </a:rPr>
              <a:t>1. Package Specification (Spec):</a:t>
            </a:r>
            <a:r>
              <a:rPr lang="en-US" sz="1300" dirty="0">
                <a:solidFill>
                  <a:srgbClr val="000000"/>
                </a:solidFill>
                <a:latin typeface="Arial" pitchFamily="34" charset="0"/>
                <a:ea typeface="Arial" pitchFamily="34" charset="-122"/>
                <a:cs typeface="Arial" pitchFamily="34" charset="-120"/>
              </a:rPr>
              <a:t> The public interface / header. Declares public variables, cursors, types, and subprogram signatures. Visible to other database programs.</a:t>
            </a:r>
            <a:endParaRPr lang="en-US" sz="1300" dirty="0"/>
          </a:p>
          <a:p>
            <a:pPr marL="0" indent="0">
              <a:buNone/>
            </a:pPr>
            <a:r>
              <a:rPr lang="en-US" sz="1300" b="1" dirty="0">
                <a:solidFill>
                  <a:srgbClr val="990033"/>
                </a:solidFill>
                <a:latin typeface="Arial" pitchFamily="34" charset="0"/>
                <a:ea typeface="Arial" pitchFamily="34" charset="-122"/>
                <a:cs typeface="Arial" pitchFamily="34" charset="-120"/>
              </a:rPr>
              <a:t>2. Package Body:</a:t>
            </a:r>
            <a:r>
              <a:rPr lang="en-US" sz="1300" dirty="0">
                <a:solidFill>
                  <a:srgbClr val="000000"/>
                </a:solidFill>
                <a:latin typeface="Arial" pitchFamily="34" charset="0"/>
                <a:ea typeface="Arial" pitchFamily="34" charset="-122"/>
                <a:cs typeface="Arial" pitchFamily="34" charset="-120"/>
              </a:rPr>
              <a:t> The private implementation. Contains the code for subprograms declared in the specification, as well as private variables, types, and helper methods. Hidden from outer scope.</a:t>
            </a:r>
            <a:endParaRPr lang="en-US" sz="1300" dirty="0"/>
          </a:p>
          <a:p>
            <a:pPr marL="0" indent="0">
              <a:buNone/>
            </a:pPr>
            <a:r>
              <a:rPr lang="en-US" sz="1300" b="1" dirty="0">
                <a:solidFill>
                  <a:srgbClr val="000000"/>
                </a:solidFill>
                <a:latin typeface="Arial" pitchFamily="34" charset="0"/>
                <a:ea typeface="Arial" pitchFamily="34" charset="-122"/>
                <a:cs typeface="Arial" pitchFamily="34" charset="-120"/>
              </a:rPr>
              <a:t>• Separate Compilation:</a:t>
            </a:r>
            <a:r>
              <a:rPr lang="en-US" sz="1300" dirty="0">
                <a:solidFill>
                  <a:srgbClr val="000000"/>
                </a:solidFill>
                <a:latin typeface="Arial" pitchFamily="34" charset="0"/>
                <a:ea typeface="Arial" pitchFamily="34" charset="-122"/>
                <a:cs typeface="Arial" pitchFamily="34" charset="-120"/>
              </a:rPr>
              <a:t> You can change and re-compile the body without compiling the specification, preventing invalidation of dependent objects.</a:t>
            </a:r>
            <a:endParaRPr lang="en-US" sz="1300" dirty="0"/>
          </a:p>
        </p:txBody>
      </p:sp>
      <p:sp>
        <p:nvSpPr>
          <p:cNvPr id="19" name="Shape 16"/>
          <p:cNvSpPr/>
          <p:nvPr/>
        </p:nvSpPr>
        <p:spPr>
          <a:xfrm>
            <a:off x="6035040" y="2103120"/>
            <a:ext cx="5715000" cy="3895344"/>
          </a:xfrm>
          <a:prstGeom prst="roundRect">
            <a:avLst>
              <a:gd name="adj" fmla="val 2347"/>
            </a:avLst>
          </a:prstGeom>
          <a:solidFill>
            <a:srgbClr val="FCE4EC"/>
          </a:solidFill>
          <a:ln w="19050">
            <a:solidFill>
              <a:srgbClr val="990033"/>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marL="0" indent="0">
              <a:buNone/>
            </a:pPr>
            <a:r>
              <a:rPr lang="en-US" sz="1500" b="1" dirty="0">
                <a:solidFill>
                  <a:srgbClr val="990033"/>
                </a:solidFill>
                <a:latin typeface="Arial" pitchFamily="34" charset="0"/>
                <a:ea typeface="Arial" pitchFamily="34" charset="-122"/>
                <a:cs typeface="Arial" pitchFamily="34" charset="-120"/>
              </a:rPr>
              <a:t>Core Benefits of Packages</a:t>
            </a:r>
            <a:endParaRPr lang="en-US" sz="1500" dirty="0"/>
          </a:p>
        </p:txBody>
      </p:sp>
      <p:sp>
        <p:nvSpPr>
          <p:cNvPr id="21" name="Text 18"/>
          <p:cNvSpPr/>
          <p:nvPr/>
        </p:nvSpPr>
        <p:spPr>
          <a:xfrm>
            <a:off x="6144768" y="2560320"/>
            <a:ext cx="5513832" cy="3364992"/>
          </a:xfrm>
          <a:prstGeom prst="rect">
            <a:avLst/>
          </a:prstGeom>
          <a:noFill/>
          <a:ln/>
        </p:spPr>
        <p:txBody>
          <a:bodyPr wrap="square" lIns="0" tIns="0" rIns="0" bIns="0" rtlCol="0" anchor="ctr"/>
          <a:lstStyle/>
          <a:p>
            <a:pPr marL="0" indent="0">
              <a:buNone/>
            </a:pPr>
            <a:r>
              <a:rPr lang="en-US" sz="1300" b="1" dirty="0">
                <a:solidFill>
                  <a:srgbClr val="000000"/>
                </a:solidFill>
                <a:latin typeface="Arial" pitchFamily="34" charset="0"/>
                <a:ea typeface="Arial" pitchFamily="34" charset="-122"/>
                <a:cs typeface="Arial" pitchFamily="34" charset="-120"/>
              </a:rPr>
              <a:t>• Modular Development:</a:t>
            </a:r>
            <a:r>
              <a:rPr lang="en-US" sz="1300" dirty="0">
                <a:solidFill>
                  <a:srgbClr val="000000"/>
                </a:solidFill>
                <a:latin typeface="Arial" pitchFamily="34" charset="0"/>
                <a:ea typeface="Arial" pitchFamily="34" charset="-122"/>
                <a:cs typeface="Arial" pitchFamily="34" charset="-120"/>
              </a:rPr>
              <a:t> Groups related business features into clean libraries (e.g., HR_PKG, FINANCE_PKG).</a:t>
            </a:r>
            <a:endParaRPr lang="en-US" sz="1300" dirty="0"/>
          </a:p>
          <a:p>
            <a:pPr marL="0" indent="0">
              <a:buNone/>
            </a:pPr>
            <a:r>
              <a:rPr lang="en-US" sz="1300" b="1" dirty="0">
                <a:solidFill>
                  <a:srgbClr val="000000"/>
                </a:solidFill>
                <a:latin typeface="Arial" pitchFamily="34" charset="0"/>
                <a:ea typeface="Arial" pitchFamily="34" charset="-122"/>
                <a:cs typeface="Arial" pitchFamily="34" charset="-120"/>
              </a:rPr>
              <a:t>• Encapsulation (Information Hiding):</a:t>
            </a:r>
            <a:r>
              <a:rPr lang="en-US" sz="1300" dirty="0">
                <a:solidFill>
                  <a:srgbClr val="000000"/>
                </a:solidFill>
                <a:latin typeface="Arial" pitchFamily="34" charset="0"/>
                <a:ea typeface="Arial" pitchFamily="34" charset="-122"/>
                <a:cs typeface="Arial" pitchFamily="34" charset="-120"/>
              </a:rPr>
              <a:t> Keeps helper functions and variables private inside the body, protecting the API implementation.</a:t>
            </a:r>
            <a:endParaRPr lang="en-US" sz="1300" dirty="0"/>
          </a:p>
          <a:p>
            <a:pPr marL="0" indent="0">
              <a:buNone/>
            </a:pPr>
            <a:r>
              <a:rPr lang="en-US" sz="1300" b="1" dirty="0">
                <a:solidFill>
                  <a:srgbClr val="006400"/>
                </a:solidFill>
                <a:latin typeface="Arial" pitchFamily="34" charset="0"/>
                <a:ea typeface="Arial" pitchFamily="34" charset="-122"/>
                <a:cs typeface="Arial" pitchFamily="34" charset="-120"/>
              </a:rPr>
              <a:t>• Session Persistent State:</a:t>
            </a:r>
            <a:r>
              <a:rPr lang="en-US" sz="1300" dirty="0">
                <a:solidFill>
                  <a:srgbClr val="000000"/>
                </a:solidFill>
                <a:latin typeface="Arial" pitchFamily="34" charset="0"/>
                <a:ea typeface="Arial" pitchFamily="34" charset="-122"/>
                <a:cs typeface="Arial" pitchFamily="34" charset="-120"/>
              </a:rPr>
              <a:t> Package variables persist for the duration of a user's database session, acting as in-memory global state.</a:t>
            </a:r>
            <a:endParaRPr lang="en-US" sz="1300" dirty="0"/>
          </a:p>
          <a:p>
            <a:pPr marL="0" indent="0">
              <a:buNone/>
            </a:pPr>
            <a:r>
              <a:rPr lang="en-US" sz="1300" b="1" dirty="0">
                <a:solidFill>
                  <a:srgbClr val="000000"/>
                </a:solidFill>
                <a:latin typeface="Arial" pitchFamily="34" charset="0"/>
                <a:ea typeface="Arial" pitchFamily="34" charset="-122"/>
                <a:cs typeface="Arial" pitchFamily="34" charset="-120"/>
              </a:rPr>
              <a:t>• High Performance:</a:t>
            </a:r>
            <a:r>
              <a:rPr lang="en-US" sz="1300" dirty="0">
                <a:solidFill>
                  <a:srgbClr val="000000"/>
                </a:solidFill>
                <a:latin typeface="Arial" pitchFamily="34" charset="0"/>
                <a:ea typeface="Arial" pitchFamily="34" charset="-122"/>
                <a:cs typeface="Arial" pitchFamily="34" charset="-120"/>
              </a:rPr>
              <a:t> The entire package is loaded into memory on the first call, reducing database page reads for subsequent subprogram runs.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Database Programming with PL/SQL</a:t>
            </a:r>
            <a:endParaRPr lang="en-US" sz="1500" dirty="0"/>
          </a:p>
        </p:txBody>
      </p:sp>
      <p:pic>
        <p:nvPicPr>
          <p:cNvPr id="12" name="Image 0" descr="preencoded.png"/>
          <p:cNvPicPr>
            <a:picLocks noChangeAspect="1"/>
          </p:cNvPicPr>
          <p:nvPr/>
        </p:nvPicPr>
        <p:blipFill>
          <a:blip r:embed="rId3"/>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marL="0" indent="0">
              <a:buNone/>
            </a:pPr>
            <a:r>
              <a:rPr lang="en-US" sz="2200" b="1" dirty="0">
                <a:solidFill>
                  <a:srgbClr val="990033"/>
                </a:solidFill>
                <a:latin typeface="Arial" pitchFamily="34" charset="0"/>
                <a:ea typeface="Arial" pitchFamily="34" charset="-122"/>
                <a:cs typeface="Arial" pitchFamily="34" charset="-120"/>
              </a:rPr>
              <a:t>Definer Rights vs. Invoker Rights</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marL="0" indent="0">
              <a:buNone/>
            </a:pPr>
            <a:r>
              <a:rPr lang="en-US" sz="1400" dirty="0">
                <a:solidFill>
                  <a:srgbClr val="000000"/>
                </a:solidFill>
                <a:latin typeface="Arial" pitchFamily="34" charset="0"/>
                <a:ea typeface="Arial" pitchFamily="34" charset="-122"/>
                <a:cs typeface="Arial" pitchFamily="34" charset="-120"/>
              </a:rPr>
              <a:t>Packages run under different security context privileges, controlled by AUTHID:</a:t>
            </a:r>
            <a:endParaRPr lang="en-US" sz="1400" dirty="0"/>
          </a:p>
        </p:txBody>
      </p:sp>
      <p:sp>
        <p:nvSpPr>
          <p:cNvPr id="16" name="Shape 13"/>
          <p:cNvSpPr/>
          <p:nvPr/>
        </p:nvSpPr>
        <p:spPr>
          <a:xfrm>
            <a:off x="457200" y="2103120"/>
            <a:ext cx="5394960" cy="4114800"/>
          </a:xfrm>
          <a:prstGeom prst="roundRect">
            <a:avLst>
              <a:gd name="adj" fmla="val 2222"/>
            </a:avLst>
          </a:prstGeom>
          <a:solidFill>
            <a:srgbClr val="E8F5E9"/>
          </a:solidFill>
          <a:ln w="19050">
            <a:solidFill>
              <a:srgbClr val="009900"/>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marL="0" indent="0">
              <a:buNone/>
            </a:pPr>
            <a:r>
              <a:rPr lang="en-US" sz="1500" b="1" dirty="0">
                <a:solidFill>
                  <a:srgbClr val="009900"/>
                </a:solidFill>
                <a:latin typeface="Arial" pitchFamily="34" charset="0"/>
                <a:ea typeface="Arial" pitchFamily="34" charset="-122"/>
                <a:cs typeface="Arial" pitchFamily="34" charset="-120"/>
              </a:rPr>
              <a:t>Definer Rights (AUTHID DEFINER)</a:t>
            </a:r>
            <a:endParaRPr lang="en-US" sz="1500" dirty="0"/>
          </a:p>
        </p:txBody>
      </p:sp>
      <p:sp>
        <p:nvSpPr>
          <p:cNvPr id="18" name="Text 15"/>
          <p:cNvSpPr/>
          <p:nvPr/>
        </p:nvSpPr>
        <p:spPr>
          <a:xfrm>
            <a:off x="566928" y="2606040"/>
            <a:ext cx="5212080" cy="3474720"/>
          </a:xfrm>
          <a:prstGeom prst="rect">
            <a:avLst/>
          </a:prstGeom>
          <a:noFill/>
          <a:ln/>
        </p:spPr>
        <p:txBody>
          <a:bodyPr wrap="square" lIns="0" tIns="0" rIns="0" bIns="0" rtlCol="0" anchor="ctr"/>
          <a:lstStyle/>
          <a:p>
            <a:pPr marL="0" indent="0">
              <a:buNone/>
            </a:pPr>
            <a:r>
              <a:rPr lang="en-US" sz="1300" b="1" dirty="0">
                <a:solidFill>
                  <a:srgbClr val="000000"/>
                </a:solidFill>
                <a:latin typeface="Arial" pitchFamily="34" charset="0"/>
                <a:ea typeface="Arial" pitchFamily="34" charset="-122"/>
                <a:cs typeface="Arial" pitchFamily="34" charset="-120"/>
              </a:rPr>
              <a:t>• Default Privilege Behavior:</a:t>
            </a:r>
            <a:r>
              <a:rPr lang="en-US" sz="1300" dirty="0">
                <a:solidFill>
                  <a:srgbClr val="000000"/>
                </a:solidFill>
                <a:latin typeface="Arial" pitchFamily="34" charset="0"/>
                <a:ea typeface="Arial" pitchFamily="34" charset="-122"/>
                <a:cs typeface="Arial" pitchFamily="34" charset="-120"/>
              </a:rPr>
              <a:t> Run with the schema privileges of the user who CREATED (defined) the package.</a:t>
            </a:r>
            <a:endParaRPr lang="en-US" sz="1300" dirty="0"/>
          </a:p>
          <a:p>
            <a:pPr marL="0" indent="0">
              <a:buNone/>
            </a:pPr>
            <a:r>
              <a:rPr lang="en-US" sz="1300" b="1" dirty="0">
                <a:solidFill>
                  <a:srgbClr val="009900"/>
                </a:solidFill>
                <a:latin typeface="Arial" pitchFamily="34" charset="0"/>
                <a:ea typeface="Arial" pitchFamily="34" charset="-122"/>
                <a:cs typeface="Arial" pitchFamily="34" charset="-120"/>
              </a:rPr>
              <a:t>• Security Encapsulation:</a:t>
            </a:r>
            <a:r>
              <a:rPr lang="en-US" sz="1300" dirty="0">
                <a:solidFill>
                  <a:srgbClr val="000000"/>
                </a:solidFill>
                <a:latin typeface="Arial" pitchFamily="34" charset="0"/>
                <a:ea typeface="Arial" pitchFamily="34" charset="-122"/>
                <a:cs typeface="Arial" pitchFamily="34" charset="-120"/>
              </a:rPr>
              <a:t> Allows a user to perform modifications on tables they cannot access directly, by calling a procedure owned by a privileged creator.</a:t>
            </a:r>
            <a:endParaRPr lang="en-US" sz="1300" dirty="0"/>
          </a:p>
          <a:p>
            <a:pPr marL="0" indent="0">
              <a:buNone/>
            </a:pPr>
            <a:r>
              <a:rPr lang="en-US" sz="1300" b="1" dirty="0">
                <a:solidFill>
                  <a:srgbClr val="000000"/>
                </a:solidFill>
                <a:latin typeface="Arial" pitchFamily="34" charset="0"/>
                <a:ea typeface="Arial" pitchFamily="34" charset="-122"/>
                <a:cs typeface="Arial" pitchFamily="34" charset="-120"/>
              </a:rPr>
              <a:t>• Name Resolution:</a:t>
            </a:r>
            <a:r>
              <a:rPr lang="en-US" sz="1300" dirty="0">
                <a:solidFill>
                  <a:srgbClr val="000000"/>
                </a:solidFill>
                <a:latin typeface="Arial" pitchFamily="34" charset="0"/>
                <a:ea typeface="Arial" pitchFamily="34" charset="-122"/>
                <a:cs typeface="Arial" pitchFamily="34" charset="-120"/>
              </a:rPr>
              <a:t> Unqualified table names resolve to the definer's schema.</a:t>
            </a:r>
            <a:endParaRPr lang="en-US" sz="1300" dirty="0"/>
          </a:p>
          <a:p>
            <a:pPr marL="0" indent="0">
              <a:buNone/>
            </a:pPr>
            <a:r>
              <a:rPr lang="en-US" sz="1300" b="1" dirty="0">
                <a:solidFill>
                  <a:srgbClr val="000000"/>
                </a:solidFill>
                <a:latin typeface="Arial" pitchFamily="34" charset="0"/>
                <a:ea typeface="Arial" pitchFamily="34" charset="-122"/>
                <a:cs typeface="Arial" pitchFamily="34" charset="-120"/>
              </a:rPr>
              <a:t>• Execution context:</a:t>
            </a:r>
            <a:r>
              <a:rPr lang="en-US" sz="1300" dirty="0">
                <a:solidFill>
                  <a:srgbClr val="000000"/>
                </a:solidFill>
                <a:latin typeface="Arial" pitchFamily="34" charset="0"/>
                <a:ea typeface="Arial" pitchFamily="34" charset="-122"/>
                <a:cs typeface="Arial" pitchFamily="34" charset="-120"/>
              </a:rPr>
              <a:t> Ideal for secure, transactional routines where table data modifications are highly regulated.</a:t>
            </a:r>
            <a:endParaRPr lang="en-US" sz="1300" dirty="0"/>
          </a:p>
        </p:txBody>
      </p:sp>
      <p:sp>
        <p:nvSpPr>
          <p:cNvPr id="19" name="Shape 16"/>
          <p:cNvSpPr/>
          <p:nvPr/>
        </p:nvSpPr>
        <p:spPr>
          <a:xfrm>
            <a:off x="6035040" y="2103120"/>
            <a:ext cx="5715000" cy="4114800"/>
          </a:xfrm>
          <a:prstGeom prst="roundRect">
            <a:avLst>
              <a:gd name="adj" fmla="val 2222"/>
            </a:avLst>
          </a:prstGeom>
          <a:solidFill>
            <a:srgbClr val="FFF9C4"/>
          </a:solidFill>
          <a:ln w="19050">
            <a:solidFill>
              <a:srgbClr val="F57F17"/>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marL="0" indent="0">
              <a:buNone/>
            </a:pPr>
            <a:r>
              <a:rPr lang="en-US" sz="1500" b="1" dirty="0">
                <a:solidFill>
                  <a:srgbClr val="F57F17"/>
                </a:solidFill>
                <a:latin typeface="Arial" pitchFamily="34" charset="0"/>
                <a:ea typeface="Arial" pitchFamily="34" charset="-122"/>
                <a:cs typeface="Arial" pitchFamily="34" charset="-120"/>
              </a:rPr>
              <a:t>Invoker Rights (AUTHID CURRENT_USER)</a:t>
            </a:r>
            <a:endParaRPr lang="en-US" sz="1500" dirty="0"/>
          </a:p>
        </p:txBody>
      </p:sp>
      <p:sp>
        <p:nvSpPr>
          <p:cNvPr id="21" name="Text 18"/>
          <p:cNvSpPr/>
          <p:nvPr/>
        </p:nvSpPr>
        <p:spPr>
          <a:xfrm>
            <a:off x="6144768" y="2606040"/>
            <a:ext cx="5513832" cy="3474720"/>
          </a:xfrm>
          <a:prstGeom prst="rect">
            <a:avLst/>
          </a:prstGeom>
          <a:noFill/>
          <a:ln/>
        </p:spPr>
        <p:txBody>
          <a:bodyPr wrap="square" lIns="0" tIns="0" rIns="0" bIns="0" rtlCol="0" anchor="ctr"/>
          <a:lstStyle/>
          <a:p>
            <a:pPr marL="0" indent="0">
              <a:buNone/>
            </a:pPr>
            <a:r>
              <a:rPr lang="en-US" sz="1300" b="1" dirty="0">
                <a:solidFill>
                  <a:srgbClr val="000000"/>
                </a:solidFill>
                <a:latin typeface="Arial" pitchFamily="34" charset="0"/>
                <a:ea typeface="Arial" pitchFamily="34" charset="-122"/>
                <a:cs typeface="Arial" pitchFamily="34" charset="-120"/>
              </a:rPr>
              <a:t>• Dynamic Privileges:</a:t>
            </a:r>
            <a:r>
              <a:rPr lang="en-US" sz="1300" dirty="0">
                <a:solidFill>
                  <a:srgbClr val="000000"/>
                </a:solidFill>
                <a:latin typeface="Arial" pitchFamily="34" charset="0"/>
                <a:ea typeface="Arial" pitchFamily="34" charset="-122"/>
                <a:cs typeface="Arial" pitchFamily="34" charset="-120"/>
              </a:rPr>
              <a:t> Run with the schema privileges of the user currently executing (invoking) the package.</a:t>
            </a:r>
            <a:endParaRPr lang="en-US" sz="1300" dirty="0"/>
          </a:p>
          <a:p>
            <a:pPr marL="0" indent="0">
              <a:buNone/>
            </a:pPr>
            <a:r>
              <a:rPr lang="en-US" sz="1300" b="1" dirty="0">
                <a:solidFill>
                  <a:srgbClr val="990033"/>
                </a:solidFill>
                <a:latin typeface="Arial" pitchFamily="34" charset="0"/>
                <a:ea typeface="Arial" pitchFamily="34" charset="-122"/>
                <a:cs typeface="Arial" pitchFamily="34" charset="-120"/>
              </a:rPr>
              <a:t>• Name Resolution:</a:t>
            </a:r>
            <a:r>
              <a:rPr lang="en-US" sz="1300" dirty="0">
                <a:solidFill>
                  <a:srgbClr val="000000"/>
                </a:solidFill>
                <a:latin typeface="Arial" pitchFamily="34" charset="0"/>
                <a:ea typeface="Arial" pitchFamily="34" charset="-122"/>
                <a:cs typeface="Arial" pitchFamily="34" charset="-120"/>
              </a:rPr>
              <a:t> Unqualified table references resolve to the invoker's current schema. The same package query fetches different data depending on who runs it.</a:t>
            </a:r>
            <a:endParaRPr lang="en-US" sz="1300" dirty="0"/>
          </a:p>
          <a:p>
            <a:pPr marL="0" indent="0">
              <a:buNone/>
            </a:pPr>
            <a:r>
              <a:rPr lang="en-US" sz="1300" b="1" dirty="0">
                <a:solidFill>
                  <a:srgbClr val="000000"/>
                </a:solidFill>
                <a:latin typeface="Arial" pitchFamily="34" charset="0"/>
                <a:ea typeface="Arial" pitchFamily="34" charset="-122"/>
                <a:cs typeface="Arial" pitchFamily="34" charset="-120"/>
              </a:rPr>
              <a:t>• Code sharing:</a:t>
            </a:r>
            <a:r>
              <a:rPr lang="en-US" sz="1300" dirty="0">
                <a:solidFill>
                  <a:srgbClr val="000000"/>
                </a:solidFill>
                <a:latin typeface="Arial" pitchFamily="34" charset="0"/>
                <a:ea typeface="Arial" pitchFamily="34" charset="-122"/>
                <a:cs typeface="Arial" pitchFamily="34" charset="-120"/>
              </a:rPr>
              <a:t> Ideal for utility packages (e.g. string formatting, mathematical tools) shared across multiple schemas.</a:t>
            </a:r>
            <a:endParaRPr lang="en-US" sz="1300" dirty="0"/>
          </a:p>
          <a:p>
            <a:pPr marL="0" indent="0">
              <a:buNone/>
            </a:pPr>
            <a:r>
              <a:rPr lang="en-US" sz="1300" b="1" dirty="0">
                <a:solidFill>
                  <a:srgbClr val="000000"/>
                </a:solidFill>
                <a:latin typeface="Arial" pitchFamily="34" charset="0"/>
                <a:ea typeface="Arial" pitchFamily="34" charset="-122"/>
                <a:cs typeface="Arial" pitchFamily="34" charset="-120"/>
              </a:rPr>
              <a:t>• Security constraint:</a:t>
            </a:r>
            <a:r>
              <a:rPr lang="en-US" sz="1300" dirty="0">
                <a:solidFill>
                  <a:srgbClr val="000000"/>
                </a:solidFill>
                <a:latin typeface="Arial" pitchFamily="34" charset="0"/>
                <a:ea typeface="Arial" pitchFamily="34" charset="-122"/>
                <a:cs typeface="Arial" pitchFamily="34" charset="-120"/>
              </a:rPr>
              <a:t> Prevents users from escalating privileges using malicious package code.</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Database Programming with PL/SQL</a:t>
            </a:r>
            <a:endParaRPr lang="en-US" sz="1500" dirty="0"/>
          </a:p>
        </p:txBody>
      </p:sp>
      <p:pic>
        <p:nvPicPr>
          <p:cNvPr id="12" name="Image 0" descr="preencoded.png"/>
          <p:cNvPicPr>
            <a:picLocks noChangeAspect="1"/>
          </p:cNvPicPr>
          <p:nvPr/>
        </p:nvPicPr>
        <p:blipFill>
          <a:blip r:embed="rId3"/>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marL="0" indent="0">
              <a:buNone/>
            </a:pPr>
            <a:r>
              <a:rPr lang="en-US" sz="2200" b="1" dirty="0">
                <a:solidFill>
                  <a:srgbClr val="990033"/>
                </a:solidFill>
                <a:latin typeface="Arial" pitchFamily="34" charset="0"/>
                <a:ea typeface="Arial" pitchFamily="34" charset="-122"/>
                <a:cs typeface="Arial" pitchFamily="34" charset="-120"/>
              </a:rPr>
              <a:t>Managing Packages: Invalidation &amp; Catalog</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marL="0" indent="0">
              <a:buNone/>
            </a:pPr>
            <a:r>
              <a:rPr lang="en-US" sz="1400" dirty="0">
                <a:solidFill>
                  <a:srgbClr val="000000"/>
                </a:solidFill>
                <a:latin typeface="Arial" pitchFamily="34" charset="0"/>
                <a:ea typeface="Arial" pitchFamily="34" charset="-122"/>
                <a:cs typeface="Arial" pitchFamily="34" charset="-120"/>
              </a:rPr>
              <a:t>How Oracle monitors package status, invalidation, and dependencies:</a:t>
            </a:r>
            <a:endParaRPr lang="en-US" sz="1400" dirty="0"/>
          </a:p>
        </p:txBody>
      </p:sp>
      <p:sp>
        <p:nvSpPr>
          <p:cNvPr id="16" name="Shape 13"/>
          <p:cNvSpPr/>
          <p:nvPr/>
        </p:nvSpPr>
        <p:spPr>
          <a:xfrm>
            <a:off x="457200" y="2103120"/>
            <a:ext cx="5394960" cy="4114800"/>
          </a:xfrm>
          <a:prstGeom prst="roundRect">
            <a:avLst>
              <a:gd name="adj" fmla="val 2222"/>
            </a:avLst>
          </a:prstGeom>
          <a:solidFill>
            <a:srgbClr val="E3F2FD"/>
          </a:solidFill>
          <a:ln w="19050">
            <a:solidFill>
              <a:srgbClr val="1565C0"/>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marL="0" indent="0">
              <a:buNone/>
            </a:pPr>
            <a:r>
              <a:rPr lang="en-US" sz="1500" b="1" dirty="0">
                <a:solidFill>
                  <a:srgbClr val="1565C0"/>
                </a:solidFill>
                <a:latin typeface="Arial" pitchFamily="34" charset="0"/>
                <a:ea typeface="Arial" pitchFamily="34" charset="-122"/>
                <a:cs typeface="Arial" pitchFamily="34" charset="-120"/>
              </a:rPr>
              <a:t>Database Catalog Queries</a:t>
            </a:r>
            <a:endParaRPr lang="en-US" sz="1500" dirty="0"/>
          </a:p>
        </p:txBody>
      </p:sp>
      <p:sp>
        <p:nvSpPr>
          <p:cNvPr id="18" name="Text 15"/>
          <p:cNvSpPr/>
          <p:nvPr/>
        </p:nvSpPr>
        <p:spPr>
          <a:xfrm>
            <a:off x="566928" y="2606040"/>
            <a:ext cx="5212080" cy="3474720"/>
          </a:xfrm>
          <a:prstGeom prst="rect">
            <a:avLst/>
          </a:prstGeom>
          <a:noFill/>
          <a:ln/>
        </p:spPr>
        <p:txBody>
          <a:bodyPr wrap="square" lIns="0" tIns="0" rIns="0" bIns="0" rtlCol="0" anchor="ctr"/>
          <a:lstStyle/>
          <a:p>
            <a:pPr marL="0" indent="0">
              <a:buNone/>
            </a:pPr>
            <a:r>
              <a:rPr lang="en-US" sz="1300" b="1" dirty="0">
                <a:solidFill>
                  <a:srgbClr val="000000"/>
                </a:solidFill>
                <a:latin typeface="Arial" pitchFamily="34" charset="0"/>
                <a:ea typeface="Arial" pitchFamily="34" charset="-122"/>
                <a:cs typeface="Arial" pitchFamily="34" charset="-120"/>
              </a:rPr>
              <a:t>• Finding Packages:</a:t>
            </a:r>
            <a:r>
              <a:rPr lang="en-US" sz="1300" dirty="0">
                <a:solidFill>
                  <a:srgbClr val="000000"/>
                </a:solidFill>
                <a:latin typeface="Arial" pitchFamily="34" charset="0"/>
                <a:ea typeface="Arial" pitchFamily="34" charset="-122"/>
                <a:cs typeface="Arial" pitchFamily="34" charset="-120"/>
              </a:rPr>
              <a:t> Metadata is stored in catalog views like USER_OBJECTS and USER_SOURCE:</a:t>
            </a:r>
            <a:endParaRPr lang="en-US" sz="1300" dirty="0"/>
          </a:p>
          <a:p>
            <a:pPr marL="0" indent="0">
              <a:buNone/>
            </a:pPr>
            <a:r>
              <a:rPr lang="en-US" sz="1300" dirty="0">
                <a:solidFill>
                  <a:srgbClr val="000000"/>
                </a:solidFill>
                <a:latin typeface="Arial" pitchFamily="34" charset="0"/>
                <a:ea typeface="Arial" pitchFamily="34" charset="-122"/>
                <a:cs typeface="Arial" pitchFamily="34" charset="-120"/>
              </a:rPr>
              <a:t>   SELECT object_name, status FROM user_objects WHERE object_type = 'PACKAGE';</a:t>
            </a:r>
            <a:endParaRPr lang="en-US" sz="1300" dirty="0"/>
          </a:p>
          <a:p>
            <a:pPr marL="0" indent="0">
              <a:buNone/>
            </a:pPr>
            <a:r>
              <a:rPr lang="en-US" sz="1300" b="1" dirty="0">
                <a:solidFill>
                  <a:srgbClr val="000000"/>
                </a:solidFill>
                <a:latin typeface="Arial" pitchFamily="34" charset="0"/>
                <a:ea typeface="Arial" pitchFamily="34" charset="-122"/>
                <a:cs typeface="Arial" pitchFamily="34" charset="-120"/>
              </a:rPr>
              <a:t>• Status Monitoring:</a:t>
            </a:r>
            <a:r>
              <a:rPr lang="en-US" sz="1300" dirty="0">
                <a:solidFill>
                  <a:srgbClr val="000000"/>
                </a:solidFill>
                <a:latin typeface="Arial" pitchFamily="34" charset="0"/>
                <a:ea typeface="Arial" pitchFamily="34" charset="-122"/>
                <a:cs typeface="Arial" pitchFamily="34" charset="-120"/>
              </a:rPr>
              <a:t> Status can be 'VALID' or 'INVALID'. If a dependent table changes, the package becomes invalid and must be re-compiled.</a:t>
            </a:r>
            <a:endParaRPr lang="en-US" sz="1300" dirty="0"/>
          </a:p>
          <a:p>
            <a:pPr marL="0" indent="0">
              <a:buNone/>
            </a:pPr>
            <a:r>
              <a:rPr lang="en-US" sz="1300" b="1" dirty="0">
                <a:solidFill>
                  <a:srgbClr val="000000"/>
                </a:solidFill>
                <a:latin typeface="Arial" pitchFamily="34" charset="0"/>
                <a:ea typeface="Arial" pitchFamily="34" charset="-122"/>
                <a:cs typeface="Arial" pitchFamily="34" charset="-120"/>
              </a:rPr>
              <a:t>• Describing Packages:</a:t>
            </a:r>
            <a:r>
              <a:rPr lang="en-US" sz="1300" dirty="0">
                <a:solidFill>
                  <a:srgbClr val="000000"/>
                </a:solidFill>
                <a:latin typeface="Arial" pitchFamily="34" charset="0"/>
                <a:ea typeface="Arial" pitchFamily="34" charset="-122"/>
                <a:cs typeface="Arial" pitchFamily="34" charset="-120"/>
              </a:rPr>
              <a:t> Use DESCRIBE command in SQL*Plus to check public signatures:</a:t>
            </a:r>
            <a:endParaRPr lang="en-US" sz="1300" dirty="0"/>
          </a:p>
          <a:p>
            <a:pPr marL="0" indent="0">
              <a:buNone/>
            </a:pPr>
            <a:r>
              <a:rPr lang="en-US" sz="1300" dirty="0">
                <a:solidFill>
                  <a:srgbClr val="000000"/>
                </a:solidFill>
                <a:latin typeface="Arial" pitchFamily="34" charset="0"/>
                <a:ea typeface="Arial" pitchFamily="34" charset="-122"/>
                <a:cs typeface="Arial" pitchFamily="34" charset="-120"/>
              </a:rPr>
              <a:t>   DESCRIBE hr_pkg;</a:t>
            </a:r>
            <a:endParaRPr lang="en-US" sz="1300" dirty="0"/>
          </a:p>
        </p:txBody>
      </p:sp>
      <p:sp>
        <p:nvSpPr>
          <p:cNvPr id="19" name="Shape 16"/>
          <p:cNvSpPr/>
          <p:nvPr/>
        </p:nvSpPr>
        <p:spPr>
          <a:xfrm>
            <a:off x="6035040" y="2103120"/>
            <a:ext cx="5715000" cy="4114800"/>
          </a:xfrm>
          <a:prstGeom prst="roundRect">
            <a:avLst>
              <a:gd name="adj" fmla="val 2222"/>
            </a:avLst>
          </a:prstGeom>
          <a:solidFill>
            <a:srgbClr val="FCE4EC"/>
          </a:solidFill>
          <a:ln w="19050">
            <a:solidFill>
              <a:srgbClr val="990033"/>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marL="0" indent="0">
              <a:buNone/>
            </a:pPr>
            <a:r>
              <a:rPr lang="en-US" sz="1500" b="1" dirty="0">
                <a:solidFill>
                  <a:srgbClr val="990033"/>
                </a:solidFill>
                <a:latin typeface="Arial" pitchFamily="34" charset="0"/>
                <a:ea typeface="Arial" pitchFamily="34" charset="-122"/>
                <a:cs typeface="Arial" pitchFamily="34" charset="-120"/>
              </a:rPr>
              <a:t>Timestamp vs. Signature Validation</a:t>
            </a:r>
            <a:endParaRPr lang="en-US" sz="1500" dirty="0"/>
          </a:p>
        </p:txBody>
      </p:sp>
      <p:sp>
        <p:nvSpPr>
          <p:cNvPr id="21" name="Text 18"/>
          <p:cNvSpPr/>
          <p:nvPr/>
        </p:nvSpPr>
        <p:spPr>
          <a:xfrm>
            <a:off x="6144768" y="2606040"/>
            <a:ext cx="5513832" cy="3474720"/>
          </a:xfrm>
          <a:prstGeom prst="rect">
            <a:avLst/>
          </a:prstGeom>
          <a:noFill/>
          <a:ln/>
        </p:spPr>
        <p:txBody>
          <a:bodyPr wrap="square" lIns="0" tIns="0" rIns="0" bIns="0" rtlCol="0" anchor="ctr"/>
          <a:lstStyle/>
          <a:p>
            <a:pPr marL="0" indent="0">
              <a:buNone/>
            </a:pPr>
            <a:r>
              <a:rPr lang="en-US" sz="1250" dirty="0">
                <a:solidFill>
                  <a:srgbClr val="000000"/>
                </a:solidFill>
                <a:latin typeface="Arial" pitchFamily="34" charset="0"/>
                <a:ea typeface="Arial" pitchFamily="34" charset="-122"/>
                <a:cs typeface="Arial" pitchFamily="34" charset="-120"/>
              </a:rPr>
              <a:t>When a package is modified, Oracle determines if dependent programs must be recompiled using two methods:</a:t>
            </a:r>
            <a:endParaRPr lang="en-US" sz="1250" dirty="0"/>
          </a:p>
          <a:p>
            <a:pPr marL="0" indent="0">
              <a:buNone/>
            </a:pPr>
            <a:r>
              <a:rPr lang="en-US" sz="1250" b="1" dirty="0">
                <a:solidFill>
                  <a:srgbClr val="990033"/>
                </a:solidFill>
                <a:latin typeface="Arial" pitchFamily="34" charset="0"/>
                <a:ea typeface="Arial" pitchFamily="34" charset="-122"/>
                <a:cs typeface="Arial" pitchFamily="34" charset="-120"/>
              </a:rPr>
              <a:t>1. Timestamp Method (Default):</a:t>
            </a:r>
            <a:r>
              <a:rPr lang="en-US" sz="1250" dirty="0">
                <a:solidFill>
                  <a:srgbClr val="000000"/>
                </a:solidFill>
                <a:latin typeface="Arial" pitchFamily="34" charset="0"/>
                <a:ea typeface="Arial" pitchFamily="34" charset="-122"/>
                <a:cs typeface="Arial" pitchFamily="34" charset="-120"/>
              </a:rPr>
              <a:t> Compares compile timestamps. If the package spec changes, all calling programs are immediately marked invalid and must re-compile. Causes cascading invalidations.</a:t>
            </a:r>
            <a:endParaRPr lang="en-US" sz="1250" dirty="0"/>
          </a:p>
          <a:p>
            <a:pPr marL="0" indent="0">
              <a:buNone/>
            </a:pPr>
            <a:r>
              <a:rPr lang="en-US" sz="1250" b="1" dirty="0">
                <a:solidFill>
                  <a:srgbClr val="006400"/>
                </a:solidFill>
                <a:latin typeface="Arial" pitchFamily="34" charset="0"/>
                <a:ea typeface="Arial" pitchFamily="34" charset="-122"/>
                <a:cs typeface="Arial" pitchFamily="34" charset="-120"/>
              </a:rPr>
              <a:t>2. Signature Method:</a:t>
            </a:r>
            <a:r>
              <a:rPr lang="en-US" sz="1250" dirty="0">
                <a:solidFill>
                  <a:srgbClr val="000000"/>
                </a:solidFill>
                <a:latin typeface="Arial" pitchFamily="34" charset="0"/>
                <a:ea typeface="Arial" pitchFamily="34" charset="-122"/>
                <a:cs typeface="Arial" pitchFamily="34" charset="-120"/>
              </a:rPr>
              <a:t> Compares subprogram parameters and data types (signatures). Calling programs remain valid as long as parameter signatures are unchanged, avoiding rebuild loops.</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Database Programming with PL/SQL</a:t>
            </a:r>
            <a:endParaRPr lang="en-US" sz="1500" dirty="0"/>
          </a:p>
        </p:txBody>
      </p:sp>
      <p:pic>
        <p:nvPicPr>
          <p:cNvPr id="12" name="Image 0" descr="preencoded.png"/>
          <p:cNvPicPr>
            <a:picLocks noChangeAspect="1"/>
          </p:cNvPicPr>
          <p:nvPr/>
        </p:nvPicPr>
        <p:blipFill>
          <a:blip r:embed="rId3"/>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marL="0" indent="0">
              <a:buNone/>
            </a:pPr>
            <a:r>
              <a:rPr lang="en-US" sz="2200" b="1" dirty="0">
                <a:solidFill>
                  <a:srgbClr val="990033"/>
                </a:solidFill>
                <a:latin typeface="Arial" pitchFamily="34" charset="0"/>
                <a:ea typeface="Arial" pitchFamily="34" charset="-122"/>
                <a:cs typeface="Arial" pitchFamily="34" charset="-120"/>
              </a:rPr>
              <a:t>Applications of Packages</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365760"/>
          </a:xfrm>
          <a:prstGeom prst="rect">
            <a:avLst/>
          </a:prstGeom>
          <a:noFill/>
          <a:ln/>
        </p:spPr>
        <p:txBody>
          <a:bodyPr wrap="square" rtlCol="0" anchor="ctr"/>
          <a:lstStyle/>
          <a:p>
            <a:pPr marL="0" indent="0">
              <a:buNone/>
            </a:pPr>
            <a:r>
              <a:rPr lang="en-US" sz="1400" dirty="0">
                <a:solidFill>
                  <a:srgbClr val="000000"/>
                </a:solidFill>
                <a:latin typeface="Arial" pitchFamily="34" charset="0"/>
                <a:ea typeface="Arial" pitchFamily="34" charset="-122"/>
                <a:cs typeface="Arial" pitchFamily="34" charset="-120"/>
              </a:rPr>
              <a:t>PL/SQL packages are utilized to build modular, secure database interfaces:</a:t>
            </a:r>
            <a:endParaRPr lang="en-US" sz="1400" dirty="0"/>
          </a:p>
        </p:txBody>
      </p:sp>
      <p:sp>
        <p:nvSpPr>
          <p:cNvPr id="16" name="Shape 13"/>
          <p:cNvSpPr/>
          <p:nvPr/>
        </p:nvSpPr>
        <p:spPr>
          <a:xfrm>
            <a:off x="457200" y="2011680"/>
            <a:ext cx="5532120" cy="1956816"/>
          </a:xfrm>
          <a:prstGeom prst="roundRect">
            <a:avLst>
              <a:gd name="adj" fmla="val 4673"/>
            </a:avLst>
          </a:prstGeom>
          <a:solidFill>
            <a:srgbClr val="E8F5E9"/>
          </a:solidFill>
          <a:ln w="19050">
            <a:solidFill>
              <a:srgbClr val="009900"/>
            </a:solidFill>
            <a:prstDash val="solid"/>
          </a:ln>
        </p:spPr>
      </p:sp>
      <p:sp>
        <p:nvSpPr>
          <p:cNvPr id="17" name="Text 14"/>
          <p:cNvSpPr/>
          <p:nvPr/>
        </p:nvSpPr>
        <p:spPr>
          <a:xfrm>
            <a:off x="566928" y="2103120"/>
            <a:ext cx="5312664" cy="347472"/>
          </a:xfrm>
          <a:prstGeom prst="rect">
            <a:avLst/>
          </a:prstGeom>
          <a:noFill/>
          <a:ln/>
        </p:spPr>
        <p:txBody>
          <a:bodyPr wrap="square" lIns="0" tIns="0" rIns="0" bIns="0" rtlCol="0" anchor="ctr"/>
          <a:lstStyle/>
          <a:p>
            <a:pPr marL="0" indent="0">
              <a:buNone/>
            </a:pPr>
            <a:r>
              <a:rPr lang="en-US" sz="1450" b="1" dirty="0">
                <a:solidFill>
                  <a:srgbClr val="009900"/>
                </a:solidFill>
                <a:latin typeface="Arial" pitchFamily="34" charset="0"/>
                <a:ea typeface="Arial" pitchFamily="34" charset="-122"/>
                <a:cs typeface="Arial" pitchFamily="34" charset="-120"/>
              </a:rPr>
              <a:t>📦  Enterprise business API libraries</a:t>
            </a:r>
            <a:endParaRPr lang="en-US" sz="1450" dirty="0"/>
          </a:p>
        </p:txBody>
      </p:sp>
      <p:sp>
        <p:nvSpPr>
          <p:cNvPr id="18" name="Text 15"/>
          <p:cNvSpPr/>
          <p:nvPr/>
        </p:nvSpPr>
        <p:spPr>
          <a:xfrm>
            <a:off x="566928" y="2487168"/>
            <a:ext cx="5312664" cy="1426464"/>
          </a:xfrm>
          <a:prstGeom prst="rect">
            <a:avLst/>
          </a:prstGeom>
          <a:noFill/>
          <a:ln/>
        </p:spPr>
        <p:txBody>
          <a:bodyPr wrap="square" lIns="0" tIns="0" rIns="0" bIns="0" rtlCol="0" anchor="ctr"/>
          <a:lstStyle/>
          <a:p>
            <a:pPr marL="0" indent="0">
              <a:buNone/>
            </a:pPr>
            <a:r>
              <a:rPr lang="en-US" sz="1300" dirty="0">
                <a:solidFill>
                  <a:srgbClr val="000000"/>
                </a:solidFill>
                <a:latin typeface="Arial" pitchFamily="34" charset="0"/>
                <a:ea typeface="Arial" pitchFamily="34" charset="-122"/>
                <a:cs typeface="Arial" pitchFamily="34" charset="-120"/>
              </a:rPr>
              <a:t>Groups related workflows into single libraries (e.g. Ledger_Pkg, Inventory_Pkg). Standardizes how client software executes transactions, enforcing business rules.</a:t>
            </a:r>
            <a:endParaRPr lang="en-US" sz="1300" dirty="0"/>
          </a:p>
        </p:txBody>
      </p:sp>
      <p:sp>
        <p:nvSpPr>
          <p:cNvPr id="19" name="Shape 16"/>
          <p:cNvSpPr/>
          <p:nvPr/>
        </p:nvSpPr>
        <p:spPr>
          <a:xfrm>
            <a:off x="6144768" y="2011680"/>
            <a:ext cx="5532120" cy="1956816"/>
          </a:xfrm>
          <a:prstGeom prst="roundRect">
            <a:avLst>
              <a:gd name="adj" fmla="val 4673"/>
            </a:avLst>
          </a:prstGeom>
          <a:solidFill>
            <a:srgbClr val="E3F2FD"/>
          </a:solidFill>
          <a:ln w="19050">
            <a:solidFill>
              <a:srgbClr val="1565C0"/>
            </a:solidFill>
            <a:prstDash val="solid"/>
          </a:ln>
        </p:spPr>
      </p:sp>
      <p:sp>
        <p:nvSpPr>
          <p:cNvPr id="20" name="Text 17"/>
          <p:cNvSpPr/>
          <p:nvPr/>
        </p:nvSpPr>
        <p:spPr>
          <a:xfrm>
            <a:off x="6254496" y="2103120"/>
            <a:ext cx="5312664" cy="347472"/>
          </a:xfrm>
          <a:prstGeom prst="rect">
            <a:avLst/>
          </a:prstGeom>
          <a:noFill/>
          <a:ln/>
        </p:spPr>
        <p:txBody>
          <a:bodyPr wrap="square" lIns="0" tIns="0" rIns="0" bIns="0" rtlCol="0" anchor="ctr"/>
          <a:lstStyle/>
          <a:p>
            <a:pPr marL="0" indent="0">
              <a:buNone/>
            </a:pPr>
            <a:r>
              <a:rPr lang="en-US" sz="1450" b="1" dirty="0">
                <a:solidFill>
                  <a:srgbClr val="1565C0"/>
                </a:solidFill>
                <a:latin typeface="Arial" pitchFamily="34" charset="0"/>
                <a:ea typeface="Arial" pitchFamily="34" charset="-122"/>
                <a:cs typeface="Arial" pitchFamily="34" charset="-120"/>
              </a:rPr>
              <a:t>💾  Session Cache Managers</a:t>
            </a:r>
            <a:endParaRPr lang="en-US" sz="1450" dirty="0"/>
          </a:p>
        </p:txBody>
      </p:sp>
      <p:sp>
        <p:nvSpPr>
          <p:cNvPr id="21" name="Text 18"/>
          <p:cNvSpPr/>
          <p:nvPr/>
        </p:nvSpPr>
        <p:spPr>
          <a:xfrm>
            <a:off x="6254496" y="2487168"/>
            <a:ext cx="5312664" cy="1426464"/>
          </a:xfrm>
          <a:prstGeom prst="rect">
            <a:avLst/>
          </a:prstGeom>
          <a:noFill/>
          <a:ln/>
        </p:spPr>
        <p:txBody>
          <a:bodyPr wrap="square" lIns="0" tIns="0" rIns="0" bIns="0" rtlCol="0" anchor="ctr"/>
          <a:lstStyle/>
          <a:p>
            <a:pPr marL="0" indent="0">
              <a:buNone/>
            </a:pPr>
            <a:r>
              <a:rPr lang="en-US" sz="1300" dirty="0">
                <a:solidFill>
                  <a:srgbClr val="000000"/>
                </a:solidFill>
                <a:latin typeface="Arial" pitchFamily="34" charset="0"/>
                <a:ea typeface="Arial" pitchFamily="34" charset="-122"/>
                <a:cs typeface="Arial" pitchFamily="34" charset="-120"/>
              </a:rPr>
              <a:t>Package variables persist throughout a database connection. They are utilized to cache static data (e.g., system settings, user permissions) in memory, avoiding redundant table queries.</a:t>
            </a:r>
            <a:endParaRPr lang="en-US" sz="1300" dirty="0"/>
          </a:p>
        </p:txBody>
      </p:sp>
      <p:sp>
        <p:nvSpPr>
          <p:cNvPr id="22" name="Shape 19"/>
          <p:cNvSpPr/>
          <p:nvPr/>
        </p:nvSpPr>
        <p:spPr>
          <a:xfrm>
            <a:off x="457200" y="4114800"/>
            <a:ext cx="5532120" cy="1956816"/>
          </a:xfrm>
          <a:prstGeom prst="roundRect">
            <a:avLst>
              <a:gd name="adj" fmla="val 4673"/>
            </a:avLst>
          </a:prstGeom>
          <a:solidFill>
            <a:srgbClr val="FCE4EC"/>
          </a:solidFill>
          <a:ln w="19050">
            <a:solidFill>
              <a:srgbClr val="990033"/>
            </a:solidFill>
            <a:prstDash val="solid"/>
          </a:ln>
        </p:spPr>
      </p:sp>
      <p:sp>
        <p:nvSpPr>
          <p:cNvPr id="23" name="Text 20"/>
          <p:cNvSpPr/>
          <p:nvPr/>
        </p:nvSpPr>
        <p:spPr>
          <a:xfrm>
            <a:off x="566928" y="4206240"/>
            <a:ext cx="5312664" cy="347472"/>
          </a:xfrm>
          <a:prstGeom prst="rect">
            <a:avLst/>
          </a:prstGeom>
          <a:noFill/>
          <a:ln/>
        </p:spPr>
        <p:txBody>
          <a:bodyPr wrap="square" lIns="0" tIns="0" rIns="0" bIns="0" rtlCol="0" anchor="ctr"/>
          <a:lstStyle/>
          <a:p>
            <a:pPr marL="0" indent="0">
              <a:buNone/>
            </a:pPr>
            <a:r>
              <a:rPr lang="en-US" sz="1450" b="1" dirty="0">
                <a:solidFill>
                  <a:srgbClr val="990033"/>
                </a:solidFill>
                <a:latin typeface="Arial" pitchFamily="34" charset="0"/>
                <a:ea typeface="Arial" pitchFamily="34" charset="-122"/>
                <a:cs typeface="Arial" pitchFamily="34" charset="-120"/>
              </a:rPr>
              <a:t>🌐  System Integration Modules</a:t>
            </a:r>
            <a:endParaRPr lang="en-US" sz="1450" dirty="0"/>
          </a:p>
        </p:txBody>
      </p:sp>
      <p:sp>
        <p:nvSpPr>
          <p:cNvPr id="24" name="Text 21"/>
          <p:cNvSpPr/>
          <p:nvPr/>
        </p:nvSpPr>
        <p:spPr>
          <a:xfrm>
            <a:off x="566928" y="4590288"/>
            <a:ext cx="5312664" cy="1426464"/>
          </a:xfrm>
          <a:prstGeom prst="rect">
            <a:avLst/>
          </a:prstGeom>
          <a:noFill/>
          <a:ln/>
        </p:spPr>
        <p:txBody>
          <a:bodyPr wrap="square" lIns="0" tIns="0" rIns="0" bIns="0" rtlCol="0" anchor="ctr"/>
          <a:lstStyle/>
          <a:p>
            <a:pPr marL="0" indent="0">
              <a:buNone/>
            </a:pPr>
            <a:r>
              <a:rPr lang="en-US" sz="1300" dirty="0">
                <a:solidFill>
                  <a:srgbClr val="000000"/>
                </a:solidFill>
                <a:latin typeface="Arial" pitchFamily="34" charset="0"/>
                <a:ea typeface="Arial" pitchFamily="34" charset="-122"/>
                <a:cs typeface="Arial" pitchFamily="34" charset="-120"/>
              </a:rPr>
              <a:t>Encapsulates complex database integrations, such as calling external APIs, parsing XML/JSON, or managing TCP connections inside private package body routines.</a:t>
            </a:r>
            <a:endParaRPr lang="en-US" sz="1300" dirty="0"/>
          </a:p>
        </p:txBody>
      </p:sp>
      <p:sp>
        <p:nvSpPr>
          <p:cNvPr id="25" name="Shape 22"/>
          <p:cNvSpPr/>
          <p:nvPr/>
        </p:nvSpPr>
        <p:spPr>
          <a:xfrm>
            <a:off x="6144768" y="4114800"/>
            <a:ext cx="5532120" cy="1956816"/>
          </a:xfrm>
          <a:prstGeom prst="roundRect">
            <a:avLst>
              <a:gd name="adj" fmla="val 4673"/>
            </a:avLst>
          </a:prstGeom>
          <a:solidFill>
            <a:srgbClr val="FFF9C4"/>
          </a:solidFill>
          <a:ln w="19050">
            <a:solidFill>
              <a:srgbClr val="F57F17"/>
            </a:solidFill>
            <a:prstDash val="solid"/>
          </a:ln>
        </p:spPr>
      </p:sp>
      <p:sp>
        <p:nvSpPr>
          <p:cNvPr id="26" name="Text 23"/>
          <p:cNvSpPr/>
          <p:nvPr/>
        </p:nvSpPr>
        <p:spPr>
          <a:xfrm>
            <a:off x="6254496" y="4206240"/>
            <a:ext cx="5312664" cy="347472"/>
          </a:xfrm>
          <a:prstGeom prst="rect">
            <a:avLst/>
          </a:prstGeom>
          <a:noFill/>
          <a:ln/>
        </p:spPr>
        <p:txBody>
          <a:bodyPr wrap="square" lIns="0" tIns="0" rIns="0" bIns="0" rtlCol="0" anchor="ctr"/>
          <a:lstStyle/>
          <a:p>
            <a:pPr marL="0" indent="0">
              <a:buNone/>
            </a:pPr>
            <a:r>
              <a:rPr lang="en-US" sz="1450" b="1" dirty="0">
                <a:solidFill>
                  <a:srgbClr val="F57F17"/>
                </a:solidFill>
                <a:latin typeface="Arial" pitchFamily="34" charset="0"/>
                <a:ea typeface="Arial" pitchFamily="34" charset="-122"/>
                <a:cs typeface="Arial" pitchFamily="34" charset="-120"/>
              </a:rPr>
              <a:t>⚙️  Utility Toolkits</a:t>
            </a:r>
            <a:endParaRPr lang="en-US" sz="1450" dirty="0"/>
          </a:p>
        </p:txBody>
      </p:sp>
      <p:sp>
        <p:nvSpPr>
          <p:cNvPr id="27" name="Text 24"/>
          <p:cNvSpPr/>
          <p:nvPr/>
        </p:nvSpPr>
        <p:spPr>
          <a:xfrm>
            <a:off x="6254496" y="4590288"/>
            <a:ext cx="5312664" cy="1426464"/>
          </a:xfrm>
          <a:prstGeom prst="rect">
            <a:avLst/>
          </a:prstGeom>
          <a:noFill/>
          <a:ln/>
        </p:spPr>
        <p:txBody>
          <a:bodyPr wrap="square" lIns="0" tIns="0" rIns="0" bIns="0" rtlCol="0" anchor="ctr"/>
          <a:lstStyle/>
          <a:p>
            <a:pPr marL="0" indent="0">
              <a:buNone/>
            </a:pPr>
            <a:r>
              <a:rPr lang="en-US" sz="1300" dirty="0">
                <a:solidFill>
                  <a:srgbClr val="000000"/>
                </a:solidFill>
                <a:latin typeface="Arial" pitchFamily="34" charset="0"/>
                <a:ea typeface="Arial" pitchFamily="34" charset="-122"/>
                <a:cs typeface="Arial" pitchFamily="34" charset="-120"/>
              </a:rPr>
              <a:t>Groups helper subprograms for data mapping, error logging, and date arithmetic. Oracle built-in packages like DBMS_SQL and UT_FILE are classic examples.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Database Programming with PL/SQL</a:t>
            </a:r>
            <a:endParaRPr lang="en-US" sz="1500" dirty="0"/>
          </a:p>
        </p:txBody>
      </p:sp>
      <p:pic>
        <p:nvPicPr>
          <p:cNvPr id="12" name="Image 0" descr="preencoded.png"/>
          <p:cNvPicPr>
            <a:picLocks noChangeAspect="1"/>
          </p:cNvPicPr>
          <p:nvPr/>
        </p:nvPicPr>
        <p:blipFill>
          <a:blip r:embed="rId3"/>
          <a:stretch>
            <a:fillRect/>
          </a:stretch>
        </p:blipFill>
        <p:spPr>
          <a:xfrm>
            <a:off x="10561320" y="228600"/>
            <a:ext cx="941832" cy="941832"/>
          </a:xfrm>
          <a:prstGeom prst="rect">
            <a:avLst/>
          </a:prstGeom>
        </p:spPr>
      </p:pic>
      <p:sp>
        <p:nvSpPr>
          <p:cNvPr id="13" name="Text 10"/>
          <p:cNvSpPr/>
          <p:nvPr/>
        </p:nvSpPr>
        <p:spPr>
          <a:xfrm>
            <a:off x="457200" y="2377440"/>
            <a:ext cx="11292840" cy="1371600"/>
          </a:xfrm>
          <a:prstGeom prst="rect">
            <a:avLst/>
          </a:prstGeom>
          <a:noFill/>
          <a:ln/>
        </p:spPr>
        <p:txBody>
          <a:bodyPr wrap="square" rtlCol="0" anchor="ctr"/>
          <a:lstStyle/>
          <a:p>
            <a:pPr marL="0" indent="0" algn="ctr">
              <a:buNone/>
            </a:pPr>
            <a:r>
              <a:rPr lang="en-US" sz="4800" b="1" dirty="0">
                <a:solidFill>
                  <a:srgbClr val="990033"/>
                </a:solidFill>
                <a:latin typeface="Arial" pitchFamily="34" charset="0"/>
                <a:ea typeface="Arial" pitchFamily="34" charset="-122"/>
                <a:cs typeface="Arial" pitchFamily="34" charset="-120"/>
              </a:rPr>
              <a:t>THANK YOU</a:t>
            </a:r>
            <a:endParaRPr lang="en-US" sz="4800" dirty="0"/>
          </a:p>
        </p:txBody>
      </p:sp>
      <p:sp>
        <p:nvSpPr>
          <p:cNvPr id="14" name="Text 11"/>
          <p:cNvSpPr/>
          <p:nvPr/>
        </p:nvSpPr>
        <p:spPr>
          <a:xfrm>
            <a:off x="457200" y="5029200"/>
            <a:ext cx="11292840" cy="822960"/>
          </a:xfrm>
          <a:prstGeom prst="rect">
            <a:avLst/>
          </a:prstGeom>
          <a:noFill/>
          <a:ln/>
        </p:spPr>
        <p:txBody>
          <a:bodyPr wrap="square" rtlCol="0" anchor="ctr"/>
          <a:lstStyle/>
          <a:p>
            <a:pPr marL="0" indent="0" algn="ctr">
              <a:buNone/>
            </a:pPr>
            <a:r>
              <a:rPr lang="en-US" sz="1300" dirty="0">
                <a:solidFill>
                  <a:srgbClr val="555555"/>
                </a:solidFill>
                <a:latin typeface="Arial" pitchFamily="34" charset="0"/>
                <a:ea typeface="Arial" pitchFamily="34" charset="-122"/>
                <a:cs typeface="Arial" pitchFamily="34" charset="-120"/>
              </a:rPr>
              <a:t>Department of Computer Science and Engineering</a:t>
            </a:r>
            <a:endParaRPr lang="en-US" sz="1300" dirty="0"/>
          </a:p>
          <a:p>
            <a:pPr marL="0" indent="0" algn="ctr">
              <a:buNone/>
            </a:pPr>
            <a:r>
              <a:rPr lang="en-US" sz="1300" dirty="0">
                <a:solidFill>
                  <a:srgbClr val="555555"/>
                </a:solidFill>
                <a:latin typeface="Arial" pitchFamily="34" charset="0"/>
                <a:ea typeface="Arial" pitchFamily="34" charset="-122"/>
                <a:cs typeface="Arial" pitchFamily="34" charset="-120"/>
              </a:rPr>
              <a:t>Marri Laxman Reddy Institute of Technology and Management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1226</Words>
  <Application>Microsoft Office PowerPoint</Application>
  <PresentationFormat>Widescreen</PresentationFormat>
  <Paragraphs>72</Paragraphs>
  <Slides>6</Slides>
  <Notes>6</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6</vt:i4>
      </vt:variant>
    </vt:vector>
  </HeadingPairs>
  <TitlesOfParts>
    <vt:vector size="8"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Srinivas Rao Tammireddy</cp:lastModifiedBy>
  <cp:revision>2</cp:revision>
  <dcterms:created xsi:type="dcterms:W3CDTF">2026-06-14T10:59:04Z</dcterms:created>
  <dcterms:modified xsi:type="dcterms:W3CDTF">2026-06-14T16:58:53Z</dcterms:modified>
</cp:coreProperties>
</file>